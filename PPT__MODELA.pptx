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8" r:id="rId3"/>
    <p:sldId id="258" r:id="rId4"/>
    <p:sldId id="259" r:id="rId5"/>
    <p:sldId id="269" r:id="rId6"/>
    <p:sldId id="260" r:id="rId7"/>
    <p:sldId id="275" r:id="rId8"/>
    <p:sldId id="272" r:id="rId9"/>
    <p:sldId id="261" r:id="rId10"/>
    <p:sldId id="262" r:id="rId11"/>
    <p:sldId id="263" r:id="rId12"/>
    <p:sldId id="264" r:id="rId13"/>
    <p:sldId id="265" r:id="rId14"/>
    <p:sldId id="266" r:id="rId15"/>
    <p:sldId id="271" r:id="rId16"/>
    <p:sldId id="273" r:id="rId17"/>
    <p:sldId id="274" r:id="rId18"/>
    <p:sldId id="270" r:id="rId19"/>
    <p:sldId id="26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48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y presentación del equipo. Este avance presenta el modelado completo del sistema BurgerGo: objetivos, casos de </a:t>
            </a:r>
            <a:r>
              <a:rPr lang="en-US" dirty="0" err="1"/>
              <a:t>uso</a:t>
            </a:r>
            <a:r>
              <a:rPr lang="en-US" dirty="0"/>
              <a:t>, modelo de datos, clases y actividades.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rubro del negocio y la identidad visual: el círculo rojo/amarillo transmite rapidez y apetito, colores típicos del rubro.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misión describe lo que BurgerGo hace hoy; la visión, hacia dónde quiere llegar. Ambas justifican que el sistema se centre en la rapidez del pedido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principal se descompone en tres objetivos específicos, todos medibles. Debajo de cada uno se indican los casos de </a:t>
            </a:r>
            <a:r>
              <a:rPr lang="en-US" dirty="0" err="1"/>
              <a:t>uso</a:t>
            </a:r>
            <a:r>
              <a:rPr lang="en-US" dirty="0"/>
              <a:t> del sistema que lo hacen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principal se descompone en tres objetivos específicos, todos medibles. Debajo de cada uno se indican los casos de </a:t>
            </a:r>
            <a:r>
              <a:rPr lang="en-US" dirty="0" err="1"/>
              <a:t>uso</a:t>
            </a:r>
            <a:r>
              <a:rPr lang="en-US" dirty="0"/>
              <a:t> del sistema que lo hacen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78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principal: el cliente (o el cajero) realiza y paga el pedido, cocina lo prepara, el sistema asigna un repartidor y este entrega. El administrador gestiona el inventario y genera reportes de ventas.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principal: el cliente (o el cajero) realiza y paga el pedido, cocina lo prepara, el sistema asigna un repartidor y este entrega. El administrador gestiona el inventario y genera reportes de ventas.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01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lógico: diez entidades. Un cliente realiza muchos pedidos; un pedido tiene varios detalles, uno o más pagos y, si es delivery, una entrega asignada a un repartidor. Producto e insumo se relacionan mediante receta (relación muchos a muchos).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físico: las diez tablas con sus tipos de datos en PostgreSQL. Las llaves primarias usan SERIAL; las tablas detalle_pedido y receta tienen llave primaria compuesta.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clases traduce el modelo de datos a objetos Java. Pedido se compone de varios DetallePedido (composición). Cliente realiza pedidos; Empleado los registra (0..1, porque un pedido online no pasa por caja); Entrega une el pedido con un repartidor.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elige </a:t>
            </a:r>
            <a:r>
              <a:rPr lang="en-US" dirty="0" err="1"/>
              <a:t>productos</a:t>
            </a:r>
            <a:r>
              <a:rPr lang="en-US" dirty="0"/>
              <a:t> y confirma. El sistema valida el stock; si no hay, notifica y el cliente vuelve a elegir. Si hay, calcula el total y el cliente elige el método de pago. Si el pago es aprobado, el sistema registra el pedido y lo envía a cocina; si no, muestra un error y el cliente intenta de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recibe el pedido confirmado y lo muestra en la pantalla de cocina. Cocina lo marca En preparación, prepara los </a:t>
            </a:r>
            <a:r>
              <a:rPr lang="en-US" dirty="0" err="1"/>
              <a:t>productos</a:t>
            </a:r>
            <a:r>
              <a:rPr lang="en-US" dirty="0"/>
              <a:t> y verifica que esté completo. Si falta algo, lo rehace; si está correcto, lo marca como Listo. El sistema descuenta los insumos del inventario y notifica que el pedido está listo.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un pedido delivery está listo, el sistema busca un repartidor disponible; si no hay, reintenta. Si hay, lo asigna automáticamente y le notifica. El repartidor acepta y recoge el pedido, lo traslada al cliente y confirma la entrega. Si la entrega falla, se registra la incidencia y se reintenta; si es exitosa, el sistema marca el pedido como Entregado.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un pedido delivery está listo, el sistema busca un repartidor disponible; si no hay, reintenta. Si hay, lo asigna automáticamente y le notifica. El repartidor acepta y recoge el pedido, lo traslada al cliente y confirma la entrega. Si la entrega falla, se registra la incidencia y se reintenta; si es exitosa, el sistema marca el pedido como Entregado.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64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un pedido delivery está listo, el sistema busca un repartidor disponible; si no hay, reintenta. Si hay, lo asigna automáticamente y le notifica. El repartidor acepta y recoge el pedido, lo traslada al cliente y confirma la entrega. Si la entrega falla, se registra la incidencia y se reintenta; si es exitosa, el sistema marca el pedido como Entregado.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36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un pedido delivery está listo, el sistema busca un repartidor disponible; si no hay, reintenta. Si hay, lo asigna automáticamente y le notifica. El repartidor acepta y recoge el pedido, lo traslada al cliente y confirma la entrega. Si la entrega falla, se registra la incidencia y se reintenta; si es exitosa, el sistema marca el pedido como Entregado.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55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la elección: Java por robustez y programación orientada a objetos; PostgreSQL por ser libre, transaccional y confiable para inventario y ventas.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conclusiones: procesos claros, datos consistentes y objetivos alcanzables. Agradecer y abrir el espacio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5047" y="-914400"/>
            <a:ext cx="6035040" cy="6035040"/>
          </a:xfrm>
          <a:prstGeom prst="ellipse">
            <a:avLst/>
          </a:prstGeom>
          <a:solidFill>
            <a:srgbClr val="7E0C13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7E0C1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858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MODELAMIENTO DE SOFTWARE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BurgerGo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4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N°2  —  Modelado del sistema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06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179752" y="5413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54361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95161" y="5409301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19/10/2026</a:t>
            </a:r>
            <a:endParaRPr lang="en-US" sz="15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A4A853F-2104-4D8C-AD3B-4E2F1E078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114" y="1000319"/>
            <a:ext cx="2904083" cy="2904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E766B08C-61F4-4F05-B36E-7080940007EC}"/>
              </a:ext>
            </a:extLst>
          </p:cNvPr>
          <p:cNvSpPr txBox="1"/>
          <p:nvPr/>
        </p:nvSpPr>
        <p:spPr>
          <a:xfrm>
            <a:off x="1981200" y="32369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Tx/>
              <a:buChar char="-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Azaña Silva Valentin (N00426767)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chemeClr val="bg1"/>
                </a:solidFill>
              </a:rPr>
              <a:t>Ucañan Gonzales Renzo Jesus (N00358410)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chemeClr val="bg1"/>
                </a:solidFill>
              </a:rPr>
              <a:t>Briceño Contreras Jordano Yamir (N00433001)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chemeClr val="bg1"/>
                </a:solidFill>
              </a:rPr>
              <a:t>Yalta Grados José David (N00339039)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chemeClr val="bg1"/>
                </a:solidFill>
              </a:rPr>
              <a:t>Erazo Garcia Adrian Antonio (N00364126)</a:t>
            </a: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26136C73-9BB1-4120-B25E-4DBB4C1C036D}"/>
              </a:ext>
            </a:extLst>
          </p:cNvPr>
          <p:cNvSpPr txBox="1"/>
          <p:nvPr/>
        </p:nvSpPr>
        <p:spPr>
          <a:xfrm>
            <a:off x="2197867" y="4206917"/>
            <a:ext cx="37716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Amador Sucasara, Jesus Antonio (N00422616)</a:t>
            </a:r>
            <a:endParaRPr lang="en-US" sz="15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8546C16C-1A90-4242-958C-D94A9EF3C136}"/>
              </a:ext>
            </a:extLst>
          </p:cNvPr>
          <p:cNvSpPr txBox="1"/>
          <p:nvPr/>
        </p:nvSpPr>
        <p:spPr>
          <a:xfrm>
            <a:off x="3116436" y="5409301"/>
            <a:ext cx="313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Mgstr. Ortiz Piñella , Manuel Alejandro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de la empresa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675120" cy="4846320"/>
          </a:xfrm>
          <a:prstGeom prst="roundRect">
            <a:avLst>
              <a:gd name="adj" fmla="val 2264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31574"/>
            <a:ext cx="384048" cy="38404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4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0293" y="2155615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83441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BurgerGo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2971800"/>
            <a:ext cx="384048" cy="384048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953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264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 de comida rápida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4719" y="3845898"/>
            <a:ext cx="384048" cy="384048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301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3205" y="38313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venta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3205" y="414223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local (caja y autoservicio digital),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en línea y reparto a domicilio.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60120" y="4914724"/>
            <a:ext cx="384048" cy="384048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1653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0293" y="49011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0293" y="52120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rápido y digital, ingredientes frescos y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puntual.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80960" y="1417320"/>
            <a:ext cx="3886200" cy="4846320"/>
          </a:xfrm>
          <a:prstGeom prst="roundRect">
            <a:avLst>
              <a:gd name="adj" fmla="val 2824"/>
            </a:avLst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13124" y="199599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10800000">
            <a:off x="9005011" y="2638958"/>
            <a:ext cx="1228954" cy="658368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D9932F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5011" y="2902306"/>
            <a:ext cx="1228954" cy="120701"/>
          </a:xfrm>
          <a:prstGeom prst="roundRect">
            <a:avLst>
              <a:gd name="adj" fmla="val 37879"/>
            </a:avLst>
          </a:prstGeom>
          <a:solidFill>
            <a:srgbClr val="7CB342"/>
          </a:solidFill>
          <a:ln/>
        </p:spPr>
      </p:sp>
      <p:sp>
        <p:nvSpPr>
          <p:cNvPr id="27" name="Shape 25"/>
          <p:cNvSpPr/>
          <p:nvPr/>
        </p:nvSpPr>
        <p:spPr>
          <a:xfrm>
            <a:off x="9005011" y="3033979"/>
            <a:ext cx="1228954" cy="186538"/>
          </a:xfrm>
          <a:prstGeom prst="roundRect">
            <a:avLst>
              <a:gd name="adj" fmla="val 24510"/>
            </a:avLst>
          </a:prstGeom>
          <a:solidFill>
            <a:srgbClr val="6B3A1F"/>
          </a:solidFill>
          <a:ln/>
        </p:spPr>
      </p:sp>
      <p:sp>
        <p:nvSpPr>
          <p:cNvPr id="28" name="Shape 26"/>
          <p:cNvSpPr/>
          <p:nvPr/>
        </p:nvSpPr>
        <p:spPr>
          <a:xfrm>
            <a:off x="9005011" y="3242462"/>
            <a:ext cx="1228954" cy="241402"/>
          </a:xfrm>
          <a:prstGeom prst="roundRect">
            <a:avLst>
              <a:gd name="adj" fmla="val 22727"/>
            </a:avLst>
          </a:prstGeom>
          <a:solidFill>
            <a:srgbClr val="D993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63840" y="4343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BurgerGo</a:t>
            </a:r>
            <a:endParaRPr lang="en-US" sz="26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5623C3BD-8A7D-4259-A7A7-C922A5DB1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728" y="2416487"/>
            <a:ext cx="2770632" cy="27706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y Visión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20240"/>
            <a:ext cx="685800" cy="68580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9933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98064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ES" sz="16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Brindar productos de comida rápida de calidad, ofreciendo un servicio ágil y eficiente mediante una adecuada gestión de pedidos, pagos, preparación y delivery, garantizando una buena experiencia para nuestros clientes.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4599432"/>
            <a:ext cx="146304" cy="146304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4526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5010912"/>
            <a:ext cx="146304" cy="146304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71600" y="4937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 frescos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5422392"/>
            <a:ext cx="146304" cy="146304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71600" y="5349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ágil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155448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920240"/>
            <a:ext cx="685800" cy="685800"/>
          </a:xfrm>
          <a:prstGeom prst="ellipse">
            <a:avLst/>
          </a:prstGeom>
          <a:solidFill>
            <a:srgbClr val="241A1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19933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880360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ES" sz="16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un restaurante de comida rápida reconocido por la calidad de sus productos, la rapidez de su atención y el uso de soluciones digitales para mejorar la gestión de pedidos, inventario y delivery. 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12280" y="4599432"/>
            <a:ext cx="146304" cy="146304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86600" y="4526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local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5010912"/>
            <a:ext cx="146304" cy="146304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86600" y="4937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digital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12280" y="5422392"/>
            <a:ext cx="146304" cy="146304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86600" y="5349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6555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cs typeface="Arial" pitchFamily="34" charset="-120"/>
              </a:rPr>
              <a:t>Objetivos Especificos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01368" y="1325880"/>
            <a:ext cx="8595360" cy="1005840"/>
          </a:xfrm>
          <a:prstGeom prst="roundRect">
            <a:avLst>
              <a:gd name="adj" fmla="val 10909"/>
            </a:avLst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03120" y="14173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691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sistema de pedidos y delivery que optimice los tiempos de atención y la gestión del restaurante.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9048" y="2331720"/>
            <a:ext cx="0" cy="2743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99716" y="2606040"/>
            <a:ext cx="758952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9716" y="2606040"/>
            <a:ext cx="0" cy="2743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94476" y="2606040"/>
            <a:ext cx="0" cy="2743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89236" y="2606040"/>
            <a:ext cx="0" cy="2743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" y="28803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" y="3063240"/>
            <a:ext cx="457200" cy="45720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08176" y="309067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más rápidos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36118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tiempo de toma de pedido en un 40% mediante un sistema de pedidos digital (local y online).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2048256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de atención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99716" y="4846320"/>
            <a:ext cx="0" cy="274320"/>
          </a:xfrm>
          <a:prstGeom prst="line">
            <a:avLst/>
          </a:prstGeom>
          <a:noFill/>
          <a:ln w="15875">
            <a:solidFill>
              <a:srgbClr val="8A7D7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85216" y="512064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EFE7E1"/>
          </a:solidFill>
          <a:ln w="12700">
            <a:solidFill>
              <a:srgbClr val="EFE7E1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3816" y="5212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ASOCIADOS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pedido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86584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32304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pedido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79976" y="28803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3063240"/>
            <a:ext cx="457200" cy="45720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0857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202936" y="309067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en tiempo real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08576" y="36118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inventario de insumos en tiempo real para evitar el desabastecimiento.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08576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5843016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insumos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94476" y="4846320"/>
            <a:ext cx="0" cy="274320"/>
          </a:xfrm>
          <a:prstGeom prst="line">
            <a:avLst/>
          </a:prstGeom>
          <a:noFill/>
          <a:ln w="15875">
            <a:solidFill>
              <a:srgbClr val="8A7D75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379976" y="512064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EFE7E1"/>
          </a:solidFill>
          <a:ln w="12700">
            <a:solidFill>
              <a:srgbClr val="EFE7E1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608576" y="5212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ASOCIADOS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08576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54296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inventario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81344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27064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pedido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74736" y="28803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403336" y="3063240"/>
            <a:ext cx="457200" cy="45720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0333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997696" y="309067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bajo control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403336" y="36118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y dar seguimiento a los pedidos delivery, asignando repartidores automáticamente.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403336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2600" dirty="0"/>
          </a:p>
        </p:txBody>
      </p:sp>
      <p:sp>
        <p:nvSpPr>
          <p:cNvPr id="46" name="Text 44"/>
          <p:cNvSpPr txBox="1"/>
          <p:nvPr/>
        </p:nvSpPr>
        <p:spPr>
          <a:xfrm>
            <a:off x="9637776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repartidor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889236" y="4846320"/>
            <a:ext cx="0" cy="274320"/>
          </a:xfrm>
          <a:prstGeom prst="line">
            <a:avLst/>
          </a:prstGeom>
          <a:noFill/>
          <a:ln w="15875">
            <a:solidFill>
              <a:srgbClr val="8A7D75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8174736" y="512064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EFE7E1"/>
          </a:solidFill>
          <a:ln w="12700">
            <a:solidFill>
              <a:srgbClr val="EFE7E1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8403336" y="5212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ASOCIADOS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03336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449056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repartidor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976104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021824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pedido</a:t>
            </a:r>
            <a:endParaRPr lang="en-US" sz="1050" dirty="0"/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A8DE0C33-ED4D-46CE-8068-975C8E2E5A3E}"/>
              </a:ext>
            </a:extLst>
          </p:cNvPr>
          <p:cNvSpPr/>
          <p:nvPr/>
        </p:nvSpPr>
        <p:spPr>
          <a:xfrm>
            <a:off x="570096" y="1041400"/>
            <a:ext cx="11115936" cy="5447793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5386D1C-D8D0-4545-8B73-B1A337BA1303}"/>
              </a:ext>
            </a:extLst>
          </p:cNvPr>
          <p:cNvSpPr txBox="1"/>
          <p:nvPr/>
        </p:nvSpPr>
        <p:spPr>
          <a:xfrm>
            <a:off x="1430951" y="2167365"/>
            <a:ext cx="7917180" cy="235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Gestionar los pedidos mediante un sistema digital</a:t>
            </a:r>
            <a:r>
              <a:rPr lang="es-PE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reduciendo</a:t>
            </a:r>
            <a:r>
              <a:rPr lang="es-PE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 tiempo de toma de pedidos en un 40%,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facilitando el registro y procesamiento de los pedidos.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Controlar el inventario de insumos en tiempo real para evitar el desabastecimiento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mediante el descuento automático de insumos y alertas de stock crítico.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Gestionar eficientemente el servicio de delivery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permitiendo la asignación de repartidores y el seguimiento del estado de los pedidos hasta su entrega.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Shape 3">
            <a:extLst>
              <a:ext uri="{FF2B5EF4-FFF2-40B4-BE49-F238E27FC236}">
                <a16:creationId xmlns:a16="http://schemas.microsoft.com/office/drawing/2014/main" id="{07E03C84-0BE4-4002-8109-FF0395F3A35E}"/>
              </a:ext>
            </a:extLst>
          </p:cNvPr>
          <p:cNvSpPr/>
          <p:nvPr/>
        </p:nvSpPr>
        <p:spPr>
          <a:xfrm>
            <a:off x="989475" y="2211496"/>
            <a:ext cx="384048" cy="38404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1B7EF044-10F4-4713-B146-E4C1B126D1EB}"/>
              </a:ext>
            </a:extLst>
          </p:cNvPr>
          <p:cNvSpPr txBox="1"/>
          <p:nvPr/>
        </p:nvSpPr>
        <p:spPr>
          <a:xfrm>
            <a:off x="984904" y="22180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2" name="Shape 7">
            <a:extLst>
              <a:ext uri="{FF2B5EF4-FFF2-40B4-BE49-F238E27FC236}">
                <a16:creationId xmlns:a16="http://schemas.microsoft.com/office/drawing/2014/main" id="{330D7144-1725-4084-A50E-A8786300A032}"/>
              </a:ext>
            </a:extLst>
          </p:cNvPr>
          <p:cNvSpPr/>
          <p:nvPr/>
        </p:nvSpPr>
        <p:spPr>
          <a:xfrm>
            <a:off x="943356" y="2903894"/>
            <a:ext cx="384048" cy="384048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BB224266-893E-4F50-BD3F-BE203A0F67E6}"/>
              </a:ext>
            </a:extLst>
          </p:cNvPr>
          <p:cNvSpPr txBox="1"/>
          <p:nvPr/>
        </p:nvSpPr>
        <p:spPr>
          <a:xfrm>
            <a:off x="943356" y="292804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4D1CBD97-0217-4E82-BC92-6981EA440760}"/>
              </a:ext>
            </a:extLst>
          </p:cNvPr>
          <p:cNvSpPr/>
          <p:nvPr/>
        </p:nvSpPr>
        <p:spPr>
          <a:xfrm>
            <a:off x="943356" y="3827438"/>
            <a:ext cx="384048" cy="384048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0572B01E-7B7D-4B68-96E8-2778AC70B6BF}"/>
              </a:ext>
            </a:extLst>
          </p:cNvPr>
          <p:cNvSpPr txBox="1"/>
          <p:nvPr/>
        </p:nvSpPr>
        <p:spPr>
          <a:xfrm>
            <a:off x="932301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01368" y="1325880"/>
            <a:ext cx="8595360" cy="1005840"/>
          </a:xfrm>
          <a:prstGeom prst="roundRect">
            <a:avLst>
              <a:gd name="adj" fmla="val 10909"/>
            </a:avLst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03120" y="14173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691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sistema de pedidos y delivery que optimice los tiempos de atención y la gestión del restaurante.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9048" y="2331720"/>
            <a:ext cx="0" cy="2743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99716" y="2606040"/>
            <a:ext cx="758952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9716" y="2606040"/>
            <a:ext cx="0" cy="2743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94476" y="2606040"/>
            <a:ext cx="0" cy="2743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89236" y="2606040"/>
            <a:ext cx="0" cy="2743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" y="28803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" y="3063240"/>
            <a:ext cx="457200" cy="45720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08176" y="309067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más rápidos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36118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tiempo de toma de pedido en un 40% mediante un sistema de pedidos digital (local y online).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2048256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de atención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99716" y="4846320"/>
            <a:ext cx="0" cy="274320"/>
          </a:xfrm>
          <a:prstGeom prst="line">
            <a:avLst/>
          </a:prstGeom>
          <a:noFill/>
          <a:ln w="15875">
            <a:solidFill>
              <a:srgbClr val="8A7D7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85216" y="512064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EFE7E1"/>
          </a:solidFill>
          <a:ln w="12700">
            <a:solidFill>
              <a:srgbClr val="EFE7E1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3816" y="5212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ASOCIADOS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pedido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86584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32304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pedido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79976" y="28803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3063240"/>
            <a:ext cx="457200" cy="45720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0857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202936" y="309067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en tiempo real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08576" y="36118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inventario de insumos en tiempo real para evitar el desabastecimiento.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08576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5843016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insumos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94476" y="4846320"/>
            <a:ext cx="0" cy="274320"/>
          </a:xfrm>
          <a:prstGeom prst="line">
            <a:avLst/>
          </a:prstGeom>
          <a:noFill/>
          <a:ln w="15875">
            <a:solidFill>
              <a:srgbClr val="8A7D75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379976" y="512064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EFE7E1"/>
          </a:solidFill>
          <a:ln w="12700">
            <a:solidFill>
              <a:srgbClr val="EFE7E1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608576" y="5212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ASOCIADOS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08576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54296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inventario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81344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27064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pedido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74736" y="28803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403336" y="3063240"/>
            <a:ext cx="457200" cy="45720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0333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997696" y="309067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bajo control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403336" y="36118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y dar seguimiento a los pedidos delivery, asignando repartidores automáticamente.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403336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2600" dirty="0"/>
          </a:p>
        </p:txBody>
      </p:sp>
      <p:sp>
        <p:nvSpPr>
          <p:cNvPr id="46" name="Text 44"/>
          <p:cNvSpPr txBox="1"/>
          <p:nvPr/>
        </p:nvSpPr>
        <p:spPr>
          <a:xfrm>
            <a:off x="9637776" y="43159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repartidor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889236" y="4846320"/>
            <a:ext cx="0" cy="274320"/>
          </a:xfrm>
          <a:prstGeom prst="line">
            <a:avLst/>
          </a:prstGeom>
          <a:noFill/>
          <a:ln w="15875">
            <a:solidFill>
              <a:srgbClr val="8A7D75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8174736" y="512064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EFE7E1"/>
          </a:solidFill>
          <a:ln w="12700">
            <a:solidFill>
              <a:srgbClr val="EFE7E1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8403336" y="5212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ASOCIADOS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03336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449056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repartidor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976104" y="55778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021824" y="5577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pedido</a:t>
            </a:r>
            <a:endParaRPr lang="en-US" sz="1050" dirty="0"/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A8DE0C33-ED4D-46CE-8068-975C8E2E5A3E}"/>
              </a:ext>
            </a:extLst>
          </p:cNvPr>
          <p:cNvSpPr/>
          <p:nvPr/>
        </p:nvSpPr>
        <p:spPr>
          <a:xfrm>
            <a:off x="570096" y="1041400"/>
            <a:ext cx="11115936" cy="5447793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CFFD7AEF-9AB8-43CE-A94C-2FD903E565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733"/>
          <a:stretch/>
        </p:blipFill>
        <p:spPr>
          <a:xfrm>
            <a:off x="1795271" y="1666875"/>
            <a:ext cx="7966732" cy="42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37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de Caso de Uso (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1143000"/>
            <a:ext cx="5852160" cy="5212080"/>
          </a:xfrm>
          <a:prstGeom prst="rect">
            <a:avLst/>
          </a:prstGeom>
          <a:solidFill>
            <a:srgbClr val="FBF8F5"/>
          </a:solidFill>
          <a:ln w="19050">
            <a:solidFill>
              <a:srgbClr val="B512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91840" y="1234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BurgerGo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205740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0168" y="20574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pedido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342900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34290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pedido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480060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0168" y="48006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pedido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78308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repartidor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297180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0528" y="29718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pedido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416052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0528" y="416052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inventario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534924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0528" y="534924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 de ventas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316736" y="182880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1" name="Shape 19"/>
          <p:cNvSpPr/>
          <p:nvPr/>
        </p:nvSpPr>
        <p:spPr>
          <a:xfrm>
            <a:off x="1463040" y="213969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0432" y="228600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225296" y="257860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257860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28895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16736" y="329184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7" name="Shape 25"/>
          <p:cNvSpPr/>
          <p:nvPr/>
        </p:nvSpPr>
        <p:spPr>
          <a:xfrm>
            <a:off x="1463040" y="360273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0432" y="374904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1225296" y="404164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404164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16736" y="475488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33" name="Shape 31"/>
          <p:cNvSpPr/>
          <p:nvPr/>
        </p:nvSpPr>
        <p:spPr>
          <a:xfrm>
            <a:off x="1463040" y="506577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0432" y="521208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1225296" y="550468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550468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8155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735056" y="219456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881360" y="250545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88752" y="265176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10643616" y="294436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294436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104120" y="3255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Repartidor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735056" y="438912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881360" y="470001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88752" y="484632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>
            <a:off x="10643616" y="513892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81360" y="513892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104120" y="5449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874520" y="2331720"/>
            <a:ext cx="1645920" cy="54864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2331720"/>
            <a:ext cx="1645920" cy="1426464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874520" y="2386584"/>
            <a:ext cx="1645920" cy="140817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874520" y="3758184"/>
            <a:ext cx="1645920" cy="3657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874520" y="5129784"/>
            <a:ext cx="1645920" cy="12801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8869680" y="2112264"/>
            <a:ext cx="1600200" cy="58521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8869680" y="2697480"/>
            <a:ext cx="1600200" cy="603504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8869680" y="2112264"/>
            <a:ext cx="1600200" cy="277977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8869680" y="4489704"/>
            <a:ext cx="1600200" cy="40233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8869680" y="4892040"/>
            <a:ext cx="1600200" cy="786384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3FD662A2-A44F-4234-9A58-169D2BA8B8F5}"/>
              </a:ext>
            </a:extLst>
          </p:cNvPr>
          <p:cNvSpPr/>
          <p:nvPr/>
        </p:nvSpPr>
        <p:spPr>
          <a:xfrm>
            <a:off x="667173" y="1034549"/>
            <a:ext cx="10839027" cy="5531382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Casos de Uso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1143000"/>
            <a:ext cx="5852160" cy="5212080"/>
          </a:xfrm>
          <a:prstGeom prst="rect">
            <a:avLst/>
          </a:prstGeom>
          <a:solidFill>
            <a:srgbClr val="FBF8F5"/>
          </a:solidFill>
          <a:ln w="19050">
            <a:solidFill>
              <a:srgbClr val="B512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91840" y="1234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1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BurgerGo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205740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0168" y="20574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pedido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342900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34290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pedido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480060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0168" y="48006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pedido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78308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repartidor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297180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0528" y="29718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pedido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416052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0528" y="416052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inventario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5349240"/>
            <a:ext cx="2468880" cy="658368"/>
          </a:xfrm>
          <a:prstGeom prst="ellipse">
            <a:avLst/>
          </a:prstGeom>
          <a:solidFill>
            <a:srgbClr val="F5B301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0528" y="534924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 de ventas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316736" y="182880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1" name="Shape 19"/>
          <p:cNvSpPr/>
          <p:nvPr/>
        </p:nvSpPr>
        <p:spPr>
          <a:xfrm>
            <a:off x="1463040" y="213969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0432" y="228600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225296" y="257860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257860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28895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16736" y="329184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7" name="Shape 25"/>
          <p:cNvSpPr/>
          <p:nvPr/>
        </p:nvSpPr>
        <p:spPr>
          <a:xfrm>
            <a:off x="1463040" y="360273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0432" y="374904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1225296" y="404164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404164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16736" y="475488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33" name="Shape 31"/>
          <p:cNvSpPr/>
          <p:nvPr/>
        </p:nvSpPr>
        <p:spPr>
          <a:xfrm>
            <a:off x="1463040" y="506577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0432" y="521208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1225296" y="550468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550468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8155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735056" y="219456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881360" y="250545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88752" y="265176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10643616" y="294436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294436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104120" y="3255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Repartidor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735056" y="4389120"/>
            <a:ext cx="292608" cy="29260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881360" y="4700016"/>
            <a:ext cx="0" cy="438912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88752" y="4846320"/>
            <a:ext cx="585216" cy="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>
            <a:off x="10643616" y="513892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81360" y="5138928"/>
            <a:ext cx="237744" cy="274320"/>
          </a:xfrm>
          <a:prstGeom prst="line">
            <a:avLst/>
          </a:prstGeom>
          <a:noFill/>
          <a:ln w="31750">
            <a:solidFill>
              <a:srgbClr val="B5121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104120" y="5449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874520" y="2331720"/>
            <a:ext cx="1645920" cy="54864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2331720"/>
            <a:ext cx="1645920" cy="1426464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874520" y="2386584"/>
            <a:ext cx="1645920" cy="140817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874520" y="3758184"/>
            <a:ext cx="1645920" cy="3657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874520" y="5129784"/>
            <a:ext cx="1645920" cy="12801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8869680" y="2112264"/>
            <a:ext cx="1600200" cy="58521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8869680" y="2697480"/>
            <a:ext cx="1600200" cy="603504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8869680" y="2112264"/>
            <a:ext cx="1600200" cy="277977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8869680" y="4489704"/>
            <a:ext cx="1600200" cy="402336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8869680" y="4892040"/>
            <a:ext cx="1600200" cy="786384"/>
          </a:xfrm>
          <a:prstGeom prst="line">
            <a:avLst/>
          </a:prstGeom>
          <a:noFill/>
          <a:ln w="13970">
            <a:solidFill>
              <a:srgbClr val="9C8E86"/>
            </a:solidFill>
            <a:prstDash val="solid"/>
          </a:ln>
        </p:spPr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3FD662A2-A44F-4234-9A58-169D2BA8B8F5}"/>
              </a:ext>
            </a:extLst>
          </p:cNvPr>
          <p:cNvSpPr/>
          <p:nvPr/>
        </p:nvSpPr>
        <p:spPr>
          <a:xfrm>
            <a:off x="667173" y="1034549"/>
            <a:ext cx="10839027" cy="5531382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pic>
        <p:nvPicPr>
          <p:cNvPr id="63" name="Imagen 62">
            <a:extLst>
              <a:ext uri="{FF2B5EF4-FFF2-40B4-BE49-F238E27FC236}">
                <a16:creationId xmlns:a16="http://schemas.microsoft.com/office/drawing/2014/main" id="{000C60AB-CCD8-4E4F-A838-A45F6697F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778" y="1157601"/>
            <a:ext cx="5048061" cy="526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20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0A61803-26AE-4F2A-90C6-0BDCEA460A52}"/>
              </a:ext>
            </a:extLst>
          </p:cNvPr>
          <p:cNvSpPr txBox="1"/>
          <p:nvPr/>
        </p:nvSpPr>
        <p:spPr>
          <a:xfrm>
            <a:off x="914400" y="197346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GESTIONAR PEDIDO:</a:t>
            </a:r>
          </a:p>
          <a:p>
            <a:endParaRPr lang="es-ES" b="1" dirty="0"/>
          </a:p>
          <a:p>
            <a:r>
              <a:rPr lang="es-ES" b="1" dirty="0"/>
              <a:t>Modificar Pedido:</a:t>
            </a:r>
            <a:r>
              <a:rPr lang="es-ES" dirty="0"/>
              <a:t> Agregar, cambiar cantidades de una orden o cambiar producto.  </a:t>
            </a:r>
          </a:p>
          <a:p>
            <a:pPr marL="285750" indent="-285750">
              <a:buFontTx/>
              <a:buChar char="-"/>
            </a:pPr>
            <a:r>
              <a:rPr lang="es-ES" b="1" dirty="0"/>
              <a:t>Si esta en pendiente o en preparación</a:t>
            </a:r>
            <a:r>
              <a:rPr lang="es-ES" dirty="0"/>
              <a:t>, se actualiza (se agrega o se cambia). Esto suele requerir permisos de Cajero principal y revierte los cambios </a:t>
            </a:r>
          </a:p>
          <a:p>
            <a:pPr marL="285750" indent="-285750">
              <a:buFontTx/>
              <a:buChar char="-"/>
            </a:pPr>
            <a:r>
              <a:rPr lang="es-ES" b="1" dirty="0"/>
              <a:t>Si ya esta preparado: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Cuando se agrega, cambia a estado pendiente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Cuando pide cambiar, si es por delivery, Que el cajero le mande un mensaje diciendo que el pedido ya esta echo y no se aceptan cambios. Si esta en el local, te pide que producto deseas cambiar y eliges el producto </a:t>
            </a:r>
            <a:r>
              <a:rPr lang="es-ES" b="1" dirty="0"/>
              <a:t>(que se descuente con lo pagado antes, si le falta que salga la opción a pagar, sino esa opción se bloquea) </a:t>
            </a:r>
            <a:r>
              <a:rPr lang="es-ES" dirty="0"/>
              <a:t>se confirma el cambio y se actualiza el estado a pendiente</a:t>
            </a:r>
          </a:p>
          <a:p>
            <a:endParaRPr lang="es-ES" dirty="0"/>
          </a:p>
          <a:p>
            <a:r>
              <a:rPr lang="es-ES" b="1" dirty="0"/>
              <a:t>Anular / Cancelar Pedido:</a:t>
            </a:r>
            <a:r>
              <a:rPr lang="es-ES" dirty="0"/>
              <a:t> Cancelar una orden por motivos de fuerza mayor (error de marcación o el cliente se arrepintió, que diga su motivo). Esto suele requerir permisos de Cajero principal y revierte los cambios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14012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Entidad–Relación lógico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9509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atributos, llaves y cardinalidades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3209544"/>
            <a:ext cx="64008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70632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990088" y="3227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2615184"/>
            <a:ext cx="0" cy="45720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8184" y="2615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758184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2615184"/>
            <a:ext cx="0" cy="45720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2615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3209544"/>
            <a:ext cx="64008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71032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3227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63840" y="2615184"/>
            <a:ext cx="0" cy="45720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18704" y="2615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918704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4681728"/>
            <a:ext cx="0" cy="45720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8304" y="46817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718304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5276088"/>
            <a:ext cx="64008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71032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190488" y="52943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778240" y="5276088"/>
            <a:ext cx="45720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05672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842248" y="52943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378440" y="4315968"/>
            <a:ext cx="0" cy="8229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33304" y="4315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433304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072384"/>
            <a:ext cx="22860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072384"/>
            <a:ext cx="228600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" y="3374136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0352" y="337413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286000" y="33741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30352" y="355701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30352" y="373989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30352" y="39227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30352" y="41056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45920" y="1554480"/>
            <a:ext cx="23774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645920" y="1554480"/>
            <a:ext cx="237744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64592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664208" y="1856232"/>
            <a:ext cx="234086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719072" y="185623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id_empleado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566160" y="1856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1719072" y="203911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719072" y="222199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719072" y="240487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9440" y="1554480"/>
            <a:ext cx="22860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949440" y="1554480"/>
            <a:ext cx="228600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9494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REPARTIDOR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967728" y="1856232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022592" y="18562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id_repartidor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778240" y="1856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7022592" y="20391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7022592" y="222199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022592" y="240487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383280" y="3072384"/>
            <a:ext cx="25603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383280" y="3072384"/>
            <a:ext cx="256032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383280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401568" y="3374136"/>
            <a:ext cx="252374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456432" y="337413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5486400" y="33741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3456432" y="355701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fecha_hora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3456432" y="373989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tipo_entrega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3456432" y="392277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3456432" y="410565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3456432" y="428853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5486400" y="42885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3456432" y="447141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id_empleado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0" y="447141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383280" y="5138928"/>
            <a:ext cx="25603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383280" y="5138928"/>
            <a:ext cx="256032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383280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DETALLE_PEDIDO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401568" y="5440680"/>
            <a:ext cx="252374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456432" y="5440680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5486400" y="54406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401568" y="5623560"/>
            <a:ext cx="252374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456432" y="5623560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id_producto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5486400" y="562356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3456432" y="5806440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3456432" y="5989320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precio_unit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83680" y="5138928"/>
            <a:ext cx="21945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583680" y="5138928"/>
            <a:ext cx="219456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583680" y="5138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601968" y="5440680"/>
            <a:ext cx="215798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656832" y="544068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id_producto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8321040" y="54406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6656832" y="562356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6656832" y="580644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6656832" y="598932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434840" y="1371600"/>
            <a:ext cx="21031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4434840" y="1371600"/>
            <a:ext cx="210312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4348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4453128" y="1673352"/>
            <a:ext cx="206654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507992" y="1673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id_pago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6080760" y="16733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4507992" y="18562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6080760" y="1856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4507992" y="20391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</a:t>
            </a:r>
            <a:endParaRPr lang="en-US" sz="1000" dirty="0"/>
          </a:p>
        </p:txBody>
      </p:sp>
      <p:sp>
        <p:nvSpPr>
          <p:cNvPr id="103" name="Text 101"/>
          <p:cNvSpPr txBox="1"/>
          <p:nvPr/>
        </p:nvSpPr>
        <p:spPr>
          <a:xfrm>
            <a:off x="4507992" y="22219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1000" dirty="0"/>
          </a:p>
        </p:txBody>
      </p:sp>
      <p:sp>
        <p:nvSpPr>
          <p:cNvPr id="104" name="Text 102"/>
          <p:cNvSpPr txBox="1"/>
          <p:nvPr/>
        </p:nvSpPr>
        <p:spPr>
          <a:xfrm>
            <a:off x="4507992" y="24048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fecha_pago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6583680" y="3072384"/>
            <a:ext cx="219456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6583680" y="3072384"/>
            <a:ext cx="219456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583680" y="3072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6601968" y="3374136"/>
            <a:ext cx="215798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656832" y="337413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id_entrega</a:t>
            </a:r>
            <a:endParaRPr lang="en-US" sz="1000" dirty="0"/>
          </a:p>
        </p:txBody>
      </p:sp>
      <p:sp>
        <p:nvSpPr>
          <p:cNvPr id="110" name="Text 108"/>
          <p:cNvSpPr txBox="1"/>
          <p:nvPr/>
        </p:nvSpPr>
        <p:spPr>
          <a:xfrm>
            <a:off x="8321040" y="33741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11" name="Text 109"/>
          <p:cNvSpPr txBox="1"/>
          <p:nvPr/>
        </p:nvSpPr>
        <p:spPr>
          <a:xfrm>
            <a:off x="6656832" y="355701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8321040" y="355701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13" name="Text 111"/>
          <p:cNvSpPr txBox="1"/>
          <p:nvPr/>
        </p:nvSpPr>
        <p:spPr>
          <a:xfrm>
            <a:off x="6656832" y="373989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id_repartidor</a:t>
            </a:r>
            <a:endParaRPr lang="en-US" sz="1000" dirty="0"/>
          </a:p>
        </p:txBody>
      </p:sp>
      <p:sp>
        <p:nvSpPr>
          <p:cNvPr id="114" name="Text 112"/>
          <p:cNvSpPr txBox="1"/>
          <p:nvPr/>
        </p:nvSpPr>
        <p:spPr>
          <a:xfrm>
            <a:off x="8321040" y="37398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15" name="Text 113"/>
          <p:cNvSpPr txBox="1"/>
          <p:nvPr/>
        </p:nvSpPr>
        <p:spPr>
          <a:xfrm>
            <a:off x="6656832" y="392277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1000" dirty="0"/>
          </a:p>
        </p:txBody>
      </p:sp>
      <p:sp>
        <p:nvSpPr>
          <p:cNvPr id="116" name="Text 114"/>
          <p:cNvSpPr txBox="1"/>
          <p:nvPr/>
        </p:nvSpPr>
        <p:spPr>
          <a:xfrm>
            <a:off x="6656832" y="41056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117" name="Text 115"/>
          <p:cNvSpPr txBox="1"/>
          <p:nvPr/>
        </p:nvSpPr>
        <p:spPr>
          <a:xfrm>
            <a:off x="6656832" y="428853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hora_entrega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9235440" y="3072384"/>
            <a:ext cx="22860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9235440" y="3072384"/>
            <a:ext cx="228600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923544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9253728" y="3374136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9308592" y="337413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id_insumo</a:t>
            </a:r>
            <a:endParaRPr lang="en-US" sz="1000" dirty="0"/>
          </a:p>
        </p:txBody>
      </p:sp>
      <p:sp>
        <p:nvSpPr>
          <p:cNvPr id="123" name="Text 121"/>
          <p:cNvSpPr txBox="1"/>
          <p:nvPr/>
        </p:nvSpPr>
        <p:spPr>
          <a:xfrm>
            <a:off x="11064240" y="33741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24" name="Text 122"/>
          <p:cNvSpPr txBox="1"/>
          <p:nvPr/>
        </p:nvSpPr>
        <p:spPr>
          <a:xfrm>
            <a:off x="9308592" y="355701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</p:txBody>
      </p:sp>
      <p:sp>
        <p:nvSpPr>
          <p:cNvPr id="125" name="Text 123"/>
          <p:cNvSpPr txBox="1"/>
          <p:nvPr/>
        </p:nvSpPr>
        <p:spPr>
          <a:xfrm>
            <a:off x="9308592" y="373989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1000" dirty="0"/>
          </a:p>
        </p:txBody>
      </p:sp>
      <p:sp>
        <p:nvSpPr>
          <p:cNvPr id="126" name="Text 124"/>
          <p:cNvSpPr txBox="1"/>
          <p:nvPr/>
        </p:nvSpPr>
        <p:spPr>
          <a:xfrm>
            <a:off x="9308592" y="39227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stock_actual</a:t>
            </a:r>
            <a:endParaRPr lang="en-US" sz="1000" dirty="0"/>
          </a:p>
        </p:txBody>
      </p:sp>
      <p:sp>
        <p:nvSpPr>
          <p:cNvPr id="127" name="Text 125"/>
          <p:cNvSpPr txBox="1"/>
          <p:nvPr/>
        </p:nvSpPr>
        <p:spPr>
          <a:xfrm>
            <a:off x="9308592" y="41056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stock_minimo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9235440" y="5138928"/>
            <a:ext cx="22860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9235440" y="5138928"/>
            <a:ext cx="228600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9235440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9253728" y="5440680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9308592" y="54406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id_producto</a:t>
            </a:r>
            <a:endParaRPr lang="en-US" sz="1000" dirty="0"/>
          </a:p>
        </p:txBody>
      </p:sp>
      <p:sp>
        <p:nvSpPr>
          <p:cNvPr id="133" name="Text 131"/>
          <p:cNvSpPr txBox="1"/>
          <p:nvPr/>
        </p:nvSpPr>
        <p:spPr>
          <a:xfrm>
            <a:off x="11064240" y="54406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9253728" y="5623560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9308592" y="56235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id_insumo</a:t>
            </a:r>
            <a:endParaRPr lang="en-US" sz="1000" dirty="0"/>
          </a:p>
        </p:txBody>
      </p:sp>
      <p:sp>
        <p:nvSpPr>
          <p:cNvPr id="136" name="Text 134"/>
          <p:cNvSpPr txBox="1"/>
          <p:nvPr/>
        </p:nvSpPr>
        <p:spPr>
          <a:xfrm>
            <a:off x="11064240" y="562356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137" name="Text 135"/>
          <p:cNvSpPr txBox="1"/>
          <p:nvPr/>
        </p:nvSpPr>
        <p:spPr>
          <a:xfrm>
            <a:off x="9308592" y="580644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9555480" y="1371600"/>
            <a:ext cx="2176272" cy="1371600"/>
          </a:xfrm>
          <a:prstGeom prst="roundRect">
            <a:avLst>
              <a:gd name="adj" fmla="val 8000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39" name="Text 137"/>
          <p:cNvSpPr txBox="1"/>
          <p:nvPr/>
        </p:nvSpPr>
        <p:spPr>
          <a:xfrm>
            <a:off x="9720072" y="14630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950" dirty="0"/>
          </a:p>
        </p:txBody>
      </p:sp>
      <p:sp>
        <p:nvSpPr>
          <p:cNvPr id="140" name="Text 138"/>
          <p:cNvSpPr txBox="1"/>
          <p:nvPr/>
        </p:nvSpPr>
        <p:spPr>
          <a:xfrm>
            <a:off x="9720072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50" dirty="0"/>
          </a:p>
        </p:txBody>
      </p:sp>
      <p:sp>
        <p:nvSpPr>
          <p:cNvPr id="141" name="Text 139"/>
          <p:cNvSpPr txBox="1"/>
          <p:nvPr/>
        </p:nvSpPr>
        <p:spPr>
          <a:xfrm>
            <a:off x="10287000" y="171907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primaria</a:t>
            </a:r>
            <a:endParaRPr lang="en-US" sz="950" dirty="0"/>
          </a:p>
        </p:txBody>
      </p:sp>
      <p:sp>
        <p:nvSpPr>
          <p:cNvPr id="142" name="Text 140"/>
          <p:cNvSpPr txBox="1"/>
          <p:nvPr/>
        </p:nvSpPr>
        <p:spPr>
          <a:xfrm>
            <a:off x="9720072" y="1938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50" dirty="0"/>
          </a:p>
        </p:txBody>
      </p:sp>
      <p:sp>
        <p:nvSpPr>
          <p:cNvPr id="143" name="Text 141"/>
          <p:cNvSpPr txBox="1"/>
          <p:nvPr/>
        </p:nvSpPr>
        <p:spPr>
          <a:xfrm>
            <a:off x="10287000" y="1938528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foránea</a:t>
            </a:r>
            <a:endParaRPr lang="en-US" sz="950" dirty="0"/>
          </a:p>
        </p:txBody>
      </p:sp>
      <p:sp>
        <p:nvSpPr>
          <p:cNvPr id="144" name="Text 142"/>
          <p:cNvSpPr txBox="1"/>
          <p:nvPr/>
        </p:nvSpPr>
        <p:spPr>
          <a:xfrm>
            <a:off x="9720072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145" name="Text 143"/>
          <p:cNvSpPr txBox="1"/>
          <p:nvPr/>
        </p:nvSpPr>
        <p:spPr>
          <a:xfrm>
            <a:off x="10287000" y="2157984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a muchos</a:t>
            </a:r>
            <a:endParaRPr lang="en-US" sz="950" dirty="0"/>
          </a:p>
        </p:txBody>
      </p:sp>
      <p:sp>
        <p:nvSpPr>
          <p:cNvPr id="146" name="Text 144"/>
          <p:cNvSpPr txBox="1"/>
          <p:nvPr/>
        </p:nvSpPr>
        <p:spPr>
          <a:xfrm>
            <a:off x="9720072" y="2377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50" dirty="0"/>
          </a:p>
        </p:txBody>
      </p:sp>
      <p:sp>
        <p:nvSpPr>
          <p:cNvPr id="147" name="Text 145"/>
          <p:cNvSpPr txBox="1"/>
          <p:nvPr/>
        </p:nvSpPr>
        <p:spPr>
          <a:xfrm>
            <a:off x="10287000" y="237744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950" dirty="0"/>
          </a:p>
        </p:txBody>
      </p:sp>
      <p:sp>
        <p:nvSpPr>
          <p:cNvPr id="150" name="Shape 2">
            <a:extLst>
              <a:ext uri="{FF2B5EF4-FFF2-40B4-BE49-F238E27FC236}">
                <a16:creationId xmlns:a16="http://schemas.microsoft.com/office/drawing/2014/main" id="{5B0E0311-49FF-4B54-8287-720B6FB7E2B4}"/>
              </a:ext>
            </a:extLst>
          </p:cNvPr>
          <p:cNvSpPr/>
          <p:nvPr/>
        </p:nvSpPr>
        <p:spPr>
          <a:xfrm>
            <a:off x="381000" y="950976"/>
            <a:ext cx="11421533" cy="5779008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pic>
        <p:nvPicPr>
          <p:cNvPr id="149" name="Imagen 148">
            <a:extLst>
              <a:ext uri="{FF2B5EF4-FFF2-40B4-BE49-F238E27FC236}">
                <a16:creationId xmlns:a16="http://schemas.microsoft.com/office/drawing/2014/main" id="{CB5DDB16-82ED-4000-A0F0-FEC326748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1127173"/>
            <a:ext cx="6327647" cy="53799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Entidad–Relación físico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9509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tipos de datos y llaves para PostgreSQL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3209544"/>
            <a:ext cx="64008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70632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990088" y="3227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2615184"/>
            <a:ext cx="0" cy="45720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8184" y="2615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758184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2615184"/>
            <a:ext cx="0" cy="45720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2615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3209544"/>
            <a:ext cx="64008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71032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3227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63840" y="2615184"/>
            <a:ext cx="0" cy="45720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18704" y="2615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918704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4681728"/>
            <a:ext cx="0" cy="45720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8304" y="46817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718304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5276088"/>
            <a:ext cx="64008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71032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190488" y="52943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778240" y="5276088"/>
            <a:ext cx="45720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05672" y="5065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842248" y="52943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378440" y="4315968"/>
            <a:ext cx="0" cy="8229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33304" y="4315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433304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072384"/>
            <a:ext cx="22860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072384"/>
            <a:ext cx="228600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" y="3374136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0352" y="337413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417320" y="33741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2286000" y="33741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30352" y="355701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417320" y="35570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VARCHAR(80)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30352" y="373989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417320" y="373989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VARCHAR(15)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" y="392277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1417320" y="392277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VARCHAR(80)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30352" y="410565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417320" y="41056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VARCHAR(120)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645920" y="1554480"/>
            <a:ext cx="23774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645920" y="1554480"/>
            <a:ext cx="237744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64592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664208" y="1856232"/>
            <a:ext cx="234086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719072" y="185623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id_empleado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2697480" y="18562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3566160" y="1856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1719072" y="203911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2697480" y="2039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VARCHAR(80)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1719072" y="222199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2697480" y="2221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1719072" y="240487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2697480" y="24048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VARCHAR(30)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49440" y="1554480"/>
            <a:ext cx="22860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949440" y="1554480"/>
            <a:ext cx="228600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9494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repartidor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967728" y="1856232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022592" y="185623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id_repartidor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7909560" y="18562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8778240" y="1856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7022592" y="203911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7909560" y="2039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VARCHAR(80)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7022592" y="222199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7909560" y="2221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VARCHAR(15)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7022592" y="240487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850" dirty="0"/>
          </a:p>
        </p:txBody>
      </p:sp>
      <p:sp>
        <p:nvSpPr>
          <p:cNvPr id="72" name="Text 70"/>
          <p:cNvSpPr txBox="1"/>
          <p:nvPr/>
        </p:nvSpPr>
        <p:spPr>
          <a:xfrm>
            <a:off x="7909560" y="24048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383280" y="3072384"/>
            <a:ext cx="25603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383280" y="3072384"/>
            <a:ext cx="256032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383280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401568" y="3374136"/>
            <a:ext cx="252374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456432" y="337413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id_pedido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4617720" y="33741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5486400" y="33741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3456432" y="355701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fecha_hora</a:t>
            </a:r>
            <a:endParaRPr 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4617720" y="35570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82" name="Text 80"/>
          <p:cNvSpPr txBox="1"/>
          <p:nvPr/>
        </p:nvSpPr>
        <p:spPr>
          <a:xfrm>
            <a:off x="3456432" y="373989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tipo_entrega</a:t>
            </a:r>
            <a:endParaRPr 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4617720" y="373989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VARCHAR(15)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3456432" y="392277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4617720" y="392277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3456432" y="410565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4617720" y="41056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NUMERIC(8,2)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3456432" y="428853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</a:t>
            </a:r>
            <a:endParaRPr 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4617720" y="42885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5486400" y="42885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3456432" y="447141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id_empleado</a:t>
            </a:r>
            <a:endParaRPr lang="en-US" sz="850" dirty="0"/>
          </a:p>
        </p:txBody>
      </p:sp>
      <p:sp>
        <p:nvSpPr>
          <p:cNvPr id="92" name="Text 90"/>
          <p:cNvSpPr txBox="1"/>
          <p:nvPr/>
        </p:nvSpPr>
        <p:spPr>
          <a:xfrm>
            <a:off x="4617720" y="44714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93" name="Text 91"/>
          <p:cNvSpPr txBox="1"/>
          <p:nvPr/>
        </p:nvSpPr>
        <p:spPr>
          <a:xfrm>
            <a:off x="5486400" y="447141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383280" y="5138928"/>
            <a:ext cx="25603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3383280" y="5138928"/>
            <a:ext cx="256032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383280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detalle_pedido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3401568" y="5440680"/>
            <a:ext cx="252374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456432" y="544068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id_pedido</a:t>
            </a:r>
            <a:endParaRPr lang="en-US" sz="850" dirty="0"/>
          </a:p>
        </p:txBody>
      </p:sp>
      <p:sp>
        <p:nvSpPr>
          <p:cNvPr id="99" name="Text 97"/>
          <p:cNvSpPr txBox="1"/>
          <p:nvPr/>
        </p:nvSpPr>
        <p:spPr>
          <a:xfrm>
            <a:off x="4617720" y="54406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100" name="Text 98"/>
          <p:cNvSpPr txBox="1"/>
          <p:nvPr/>
        </p:nvSpPr>
        <p:spPr>
          <a:xfrm>
            <a:off x="5486400" y="54406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401568" y="5623560"/>
            <a:ext cx="252374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456432" y="562356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id_producto</a:t>
            </a:r>
            <a:endParaRPr lang="en-US" sz="850" dirty="0"/>
          </a:p>
        </p:txBody>
      </p:sp>
      <p:sp>
        <p:nvSpPr>
          <p:cNvPr id="103" name="Text 101"/>
          <p:cNvSpPr txBox="1"/>
          <p:nvPr/>
        </p:nvSpPr>
        <p:spPr>
          <a:xfrm>
            <a:off x="4617720" y="5623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104" name="Text 102"/>
          <p:cNvSpPr txBox="1"/>
          <p:nvPr/>
        </p:nvSpPr>
        <p:spPr>
          <a:xfrm>
            <a:off x="5486400" y="562356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105" name="Text 103"/>
          <p:cNvSpPr txBox="1"/>
          <p:nvPr/>
        </p:nvSpPr>
        <p:spPr>
          <a:xfrm>
            <a:off x="3456432" y="580644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850" dirty="0"/>
          </a:p>
        </p:txBody>
      </p:sp>
      <p:sp>
        <p:nvSpPr>
          <p:cNvPr id="106" name="Text 104"/>
          <p:cNvSpPr txBox="1"/>
          <p:nvPr/>
        </p:nvSpPr>
        <p:spPr>
          <a:xfrm>
            <a:off x="4617720" y="58064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107" name="Text 105"/>
          <p:cNvSpPr txBox="1"/>
          <p:nvPr/>
        </p:nvSpPr>
        <p:spPr>
          <a:xfrm>
            <a:off x="3456432" y="598932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precio_unit</a:t>
            </a:r>
            <a:endParaRPr lang="en-US" sz="850" dirty="0"/>
          </a:p>
        </p:txBody>
      </p:sp>
      <p:sp>
        <p:nvSpPr>
          <p:cNvPr id="108" name="Text 106"/>
          <p:cNvSpPr txBox="1"/>
          <p:nvPr/>
        </p:nvSpPr>
        <p:spPr>
          <a:xfrm>
            <a:off x="4617720" y="59893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NUMERIC(8,2)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6583680" y="5138928"/>
            <a:ext cx="21945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6583680" y="5138928"/>
            <a:ext cx="219456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583680" y="5138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6601968" y="5440680"/>
            <a:ext cx="215798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6656832" y="544068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id_producto</a:t>
            </a:r>
            <a:endParaRPr lang="en-US" sz="850" dirty="0"/>
          </a:p>
        </p:txBody>
      </p:sp>
      <p:sp>
        <p:nvSpPr>
          <p:cNvPr id="114" name="Text 112"/>
          <p:cNvSpPr txBox="1"/>
          <p:nvPr/>
        </p:nvSpPr>
        <p:spPr>
          <a:xfrm>
            <a:off x="7452360" y="54406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50" dirty="0"/>
          </a:p>
        </p:txBody>
      </p:sp>
      <p:sp>
        <p:nvSpPr>
          <p:cNvPr id="115" name="Text 113"/>
          <p:cNvSpPr txBox="1"/>
          <p:nvPr/>
        </p:nvSpPr>
        <p:spPr>
          <a:xfrm>
            <a:off x="8321040" y="54406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16" name="Text 114"/>
          <p:cNvSpPr txBox="1"/>
          <p:nvPr/>
        </p:nvSpPr>
        <p:spPr>
          <a:xfrm>
            <a:off x="6656832" y="562356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117" name="Text 115"/>
          <p:cNvSpPr txBox="1"/>
          <p:nvPr/>
        </p:nvSpPr>
        <p:spPr>
          <a:xfrm>
            <a:off x="7452360" y="5623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VARCHAR(60)</a:t>
            </a:r>
            <a:endParaRPr lang="en-US" sz="850" dirty="0"/>
          </a:p>
        </p:txBody>
      </p:sp>
      <p:sp>
        <p:nvSpPr>
          <p:cNvPr id="118" name="Text 116"/>
          <p:cNvSpPr txBox="1"/>
          <p:nvPr/>
        </p:nvSpPr>
        <p:spPr>
          <a:xfrm>
            <a:off x="6656832" y="580644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850" dirty="0"/>
          </a:p>
        </p:txBody>
      </p:sp>
      <p:sp>
        <p:nvSpPr>
          <p:cNvPr id="119" name="Text 117"/>
          <p:cNvSpPr txBox="1"/>
          <p:nvPr/>
        </p:nvSpPr>
        <p:spPr>
          <a:xfrm>
            <a:off x="7452360" y="58064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VARCHAR(30)</a:t>
            </a:r>
            <a:endParaRPr lang="en-US" sz="850" dirty="0"/>
          </a:p>
        </p:txBody>
      </p:sp>
      <p:sp>
        <p:nvSpPr>
          <p:cNvPr id="120" name="Text 118"/>
          <p:cNvSpPr txBox="1"/>
          <p:nvPr/>
        </p:nvSpPr>
        <p:spPr>
          <a:xfrm>
            <a:off x="6656832" y="598932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850" dirty="0"/>
          </a:p>
        </p:txBody>
      </p:sp>
      <p:sp>
        <p:nvSpPr>
          <p:cNvPr id="121" name="Text 119"/>
          <p:cNvSpPr txBox="1"/>
          <p:nvPr/>
        </p:nvSpPr>
        <p:spPr>
          <a:xfrm>
            <a:off x="7452360" y="59893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NUMERIC(8,2)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434840" y="1371600"/>
            <a:ext cx="21031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4434840" y="1371600"/>
            <a:ext cx="210312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44348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4453128" y="1673352"/>
            <a:ext cx="206654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4507992" y="1673352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id_pago</a:t>
            </a:r>
            <a:endParaRPr lang="en-US" sz="850" dirty="0"/>
          </a:p>
        </p:txBody>
      </p:sp>
      <p:sp>
        <p:nvSpPr>
          <p:cNvPr id="127" name="Text 125"/>
          <p:cNvSpPr txBox="1"/>
          <p:nvPr/>
        </p:nvSpPr>
        <p:spPr>
          <a:xfrm>
            <a:off x="5212080" y="16733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50" dirty="0"/>
          </a:p>
        </p:txBody>
      </p:sp>
      <p:sp>
        <p:nvSpPr>
          <p:cNvPr id="128" name="Text 126"/>
          <p:cNvSpPr txBox="1"/>
          <p:nvPr/>
        </p:nvSpPr>
        <p:spPr>
          <a:xfrm>
            <a:off x="6080760" y="16733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29" name="Text 127"/>
          <p:cNvSpPr txBox="1"/>
          <p:nvPr/>
        </p:nvSpPr>
        <p:spPr>
          <a:xfrm>
            <a:off x="4507992" y="1856232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id_pedido</a:t>
            </a:r>
            <a:endParaRPr lang="en-US" sz="850" dirty="0"/>
          </a:p>
        </p:txBody>
      </p:sp>
      <p:sp>
        <p:nvSpPr>
          <p:cNvPr id="130" name="Text 128"/>
          <p:cNvSpPr txBox="1"/>
          <p:nvPr/>
        </p:nvSpPr>
        <p:spPr>
          <a:xfrm>
            <a:off x="5212080" y="18562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131" name="Text 129"/>
          <p:cNvSpPr txBox="1"/>
          <p:nvPr/>
        </p:nvSpPr>
        <p:spPr>
          <a:xfrm>
            <a:off x="6080760" y="18562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32" name="Text 130"/>
          <p:cNvSpPr txBox="1"/>
          <p:nvPr/>
        </p:nvSpPr>
        <p:spPr>
          <a:xfrm>
            <a:off x="4507992" y="2039112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</a:t>
            </a:r>
            <a:endParaRPr lang="en-US" sz="850" dirty="0"/>
          </a:p>
        </p:txBody>
      </p:sp>
      <p:sp>
        <p:nvSpPr>
          <p:cNvPr id="133" name="Text 131"/>
          <p:cNvSpPr txBox="1"/>
          <p:nvPr/>
        </p:nvSpPr>
        <p:spPr>
          <a:xfrm>
            <a:off x="5212080" y="2039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134" name="Text 132"/>
          <p:cNvSpPr txBox="1"/>
          <p:nvPr/>
        </p:nvSpPr>
        <p:spPr>
          <a:xfrm>
            <a:off x="4507992" y="2221992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850" dirty="0"/>
          </a:p>
        </p:txBody>
      </p:sp>
      <p:sp>
        <p:nvSpPr>
          <p:cNvPr id="135" name="Text 133"/>
          <p:cNvSpPr txBox="1"/>
          <p:nvPr/>
        </p:nvSpPr>
        <p:spPr>
          <a:xfrm>
            <a:off x="5212080" y="2221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NUMERIC(8,2)</a:t>
            </a:r>
            <a:endParaRPr lang="en-US" sz="850" dirty="0"/>
          </a:p>
        </p:txBody>
      </p:sp>
      <p:sp>
        <p:nvSpPr>
          <p:cNvPr id="136" name="Text 134"/>
          <p:cNvSpPr txBox="1"/>
          <p:nvPr/>
        </p:nvSpPr>
        <p:spPr>
          <a:xfrm>
            <a:off x="4507992" y="2404872"/>
            <a:ext cx="70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fecha_pago</a:t>
            </a:r>
            <a:endParaRPr lang="en-US" sz="850" dirty="0"/>
          </a:p>
        </p:txBody>
      </p:sp>
      <p:sp>
        <p:nvSpPr>
          <p:cNvPr id="137" name="Text 135"/>
          <p:cNvSpPr txBox="1"/>
          <p:nvPr/>
        </p:nvSpPr>
        <p:spPr>
          <a:xfrm>
            <a:off x="5212080" y="24048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6583680" y="3072384"/>
            <a:ext cx="219456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39" name="Shape 137"/>
          <p:cNvSpPr/>
          <p:nvPr/>
        </p:nvSpPr>
        <p:spPr>
          <a:xfrm>
            <a:off x="6583680" y="3072384"/>
            <a:ext cx="219456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6583680" y="3072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6601968" y="3374136"/>
            <a:ext cx="215798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6656832" y="3374136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id_entrega</a:t>
            </a:r>
            <a:endParaRPr lang="en-US" sz="850" dirty="0"/>
          </a:p>
        </p:txBody>
      </p:sp>
      <p:sp>
        <p:nvSpPr>
          <p:cNvPr id="143" name="Text 141"/>
          <p:cNvSpPr txBox="1"/>
          <p:nvPr/>
        </p:nvSpPr>
        <p:spPr>
          <a:xfrm>
            <a:off x="7452360" y="33741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50" dirty="0"/>
          </a:p>
        </p:txBody>
      </p:sp>
      <p:sp>
        <p:nvSpPr>
          <p:cNvPr id="144" name="Text 142"/>
          <p:cNvSpPr txBox="1"/>
          <p:nvPr/>
        </p:nvSpPr>
        <p:spPr>
          <a:xfrm>
            <a:off x="8321040" y="33741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45" name="Text 143"/>
          <p:cNvSpPr txBox="1"/>
          <p:nvPr/>
        </p:nvSpPr>
        <p:spPr>
          <a:xfrm>
            <a:off x="6656832" y="3557016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id_pedido</a:t>
            </a:r>
            <a:endParaRPr lang="en-US" sz="850" dirty="0"/>
          </a:p>
        </p:txBody>
      </p:sp>
      <p:sp>
        <p:nvSpPr>
          <p:cNvPr id="146" name="Text 144"/>
          <p:cNvSpPr txBox="1"/>
          <p:nvPr/>
        </p:nvSpPr>
        <p:spPr>
          <a:xfrm>
            <a:off x="7452360" y="35570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147" name="Text 145"/>
          <p:cNvSpPr txBox="1"/>
          <p:nvPr/>
        </p:nvSpPr>
        <p:spPr>
          <a:xfrm>
            <a:off x="8321040" y="355701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48" name="Text 146"/>
          <p:cNvSpPr txBox="1"/>
          <p:nvPr/>
        </p:nvSpPr>
        <p:spPr>
          <a:xfrm>
            <a:off x="6656832" y="3739896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id_repartidor</a:t>
            </a:r>
            <a:endParaRPr lang="en-US" sz="850" dirty="0"/>
          </a:p>
        </p:txBody>
      </p:sp>
      <p:sp>
        <p:nvSpPr>
          <p:cNvPr id="149" name="Text 147"/>
          <p:cNvSpPr txBox="1"/>
          <p:nvPr/>
        </p:nvSpPr>
        <p:spPr>
          <a:xfrm>
            <a:off x="7452360" y="373989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150" name="Text 148"/>
          <p:cNvSpPr txBox="1"/>
          <p:nvPr/>
        </p:nvSpPr>
        <p:spPr>
          <a:xfrm>
            <a:off x="8321040" y="37398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51" name="Text 149"/>
          <p:cNvSpPr txBox="1"/>
          <p:nvPr/>
        </p:nvSpPr>
        <p:spPr>
          <a:xfrm>
            <a:off x="6656832" y="3922776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850" dirty="0"/>
          </a:p>
        </p:txBody>
      </p:sp>
      <p:sp>
        <p:nvSpPr>
          <p:cNvPr id="152" name="Text 150"/>
          <p:cNvSpPr txBox="1"/>
          <p:nvPr/>
        </p:nvSpPr>
        <p:spPr>
          <a:xfrm>
            <a:off x="7452360" y="392277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VARCHAR(120)</a:t>
            </a:r>
            <a:endParaRPr lang="en-US" sz="850" dirty="0"/>
          </a:p>
        </p:txBody>
      </p:sp>
      <p:sp>
        <p:nvSpPr>
          <p:cNvPr id="153" name="Text 151"/>
          <p:cNvSpPr txBox="1"/>
          <p:nvPr/>
        </p:nvSpPr>
        <p:spPr>
          <a:xfrm>
            <a:off x="6656832" y="4105656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50" dirty="0"/>
          </a:p>
        </p:txBody>
      </p:sp>
      <p:sp>
        <p:nvSpPr>
          <p:cNvPr id="154" name="Text 152"/>
          <p:cNvSpPr txBox="1"/>
          <p:nvPr/>
        </p:nvSpPr>
        <p:spPr>
          <a:xfrm>
            <a:off x="7452360" y="41056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155" name="Text 153"/>
          <p:cNvSpPr txBox="1"/>
          <p:nvPr/>
        </p:nvSpPr>
        <p:spPr>
          <a:xfrm>
            <a:off x="6656832" y="4288536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hora_entrega</a:t>
            </a:r>
            <a:endParaRPr lang="en-US" sz="850" dirty="0"/>
          </a:p>
        </p:txBody>
      </p:sp>
      <p:sp>
        <p:nvSpPr>
          <p:cNvPr id="156" name="Text 154"/>
          <p:cNvSpPr txBox="1"/>
          <p:nvPr/>
        </p:nvSpPr>
        <p:spPr>
          <a:xfrm>
            <a:off x="7452360" y="42885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9235440" y="3072384"/>
            <a:ext cx="22860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58" name="Shape 156"/>
          <p:cNvSpPr/>
          <p:nvPr/>
        </p:nvSpPr>
        <p:spPr>
          <a:xfrm>
            <a:off x="9235440" y="3072384"/>
            <a:ext cx="228600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923544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</a:t>
            </a:r>
            <a:endParaRPr lang="en-US" sz="1050" dirty="0"/>
          </a:p>
        </p:txBody>
      </p:sp>
      <p:sp>
        <p:nvSpPr>
          <p:cNvPr id="160" name="Shape 158"/>
          <p:cNvSpPr/>
          <p:nvPr/>
        </p:nvSpPr>
        <p:spPr>
          <a:xfrm>
            <a:off x="9253728" y="3374136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9308592" y="337413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id_insumo</a:t>
            </a:r>
            <a:endParaRPr lang="en-US" sz="850" dirty="0"/>
          </a:p>
        </p:txBody>
      </p:sp>
      <p:sp>
        <p:nvSpPr>
          <p:cNvPr id="162" name="Text 160"/>
          <p:cNvSpPr txBox="1"/>
          <p:nvPr/>
        </p:nvSpPr>
        <p:spPr>
          <a:xfrm>
            <a:off x="10195560" y="33741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50" dirty="0"/>
          </a:p>
        </p:txBody>
      </p:sp>
      <p:sp>
        <p:nvSpPr>
          <p:cNvPr id="163" name="Text 161"/>
          <p:cNvSpPr txBox="1"/>
          <p:nvPr/>
        </p:nvSpPr>
        <p:spPr>
          <a:xfrm>
            <a:off x="11064240" y="33741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64" name="Text 162"/>
          <p:cNvSpPr txBox="1"/>
          <p:nvPr/>
        </p:nvSpPr>
        <p:spPr>
          <a:xfrm>
            <a:off x="9308592" y="355701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165" name="Text 163"/>
          <p:cNvSpPr txBox="1"/>
          <p:nvPr/>
        </p:nvSpPr>
        <p:spPr>
          <a:xfrm>
            <a:off x="10195560" y="355701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VARCHAR(60)</a:t>
            </a:r>
            <a:endParaRPr lang="en-US" sz="850" dirty="0"/>
          </a:p>
        </p:txBody>
      </p:sp>
      <p:sp>
        <p:nvSpPr>
          <p:cNvPr id="166" name="Text 164"/>
          <p:cNvSpPr txBox="1"/>
          <p:nvPr/>
        </p:nvSpPr>
        <p:spPr>
          <a:xfrm>
            <a:off x="9308592" y="373989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50" dirty="0"/>
          </a:p>
        </p:txBody>
      </p:sp>
      <p:sp>
        <p:nvSpPr>
          <p:cNvPr id="167" name="Text 165"/>
          <p:cNvSpPr txBox="1"/>
          <p:nvPr/>
        </p:nvSpPr>
        <p:spPr>
          <a:xfrm>
            <a:off x="10195560" y="373989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VARCHAR(15)</a:t>
            </a:r>
            <a:endParaRPr lang="en-US" sz="850" dirty="0"/>
          </a:p>
        </p:txBody>
      </p:sp>
      <p:sp>
        <p:nvSpPr>
          <p:cNvPr id="168" name="Text 166"/>
          <p:cNvSpPr txBox="1"/>
          <p:nvPr/>
        </p:nvSpPr>
        <p:spPr>
          <a:xfrm>
            <a:off x="9308592" y="392277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stock_actual</a:t>
            </a:r>
            <a:endParaRPr lang="en-US" sz="850" dirty="0"/>
          </a:p>
        </p:txBody>
      </p:sp>
      <p:sp>
        <p:nvSpPr>
          <p:cNvPr id="169" name="Text 167"/>
          <p:cNvSpPr txBox="1"/>
          <p:nvPr/>
        </p:nvSpPr>
        <p:spPr>
          <a:xfrm>
            <a:off x="10195560" y="392277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NUMERIC(10,2)</a:t>
            </a:r>
            <a:endParaRPr lang="en-US" sz="850" dirty="0"/>
          </a:p>
        </p:txBody>
      </p:sp>
      <p:sp>
        <p:nvSpPr>
          <p:cNvPr id="170" name="Text 168"/>
          <p:cNvSpPr txBox="1"/>
          <p:nvPr/>
        </p:nvSpPr>
        <p:spPr>
          <a:xfrm>
            <a:off x="9308592" y="410565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stock_minimo</a:t>
            </a:r>
            <a:endParaRPr lang="en-US" sz="850" dirty="0"/>
          </a:p>
        </p:txBody>
      </p:sp>
      <p:sp>
        <p:nvSpPr>
          <p:cNvPr id="171" name="Text 169"/>
          <p:cNvSpPr txBox="1"/>
          <p:nvPr/>
        </p:nvSpPr>
        <p:spPr>
          <a:xfrm>
            <a:off x="10195560" y="41056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NUMERIC(10,2)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9235440" y="5138928"/>
            <a:ext cx="22860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73" name="Shape 171"/>
          <p:cNvSpPr/>
          <p:nvPr/>
        </p:nvSpPr>
        <p:spPr>
          <a:xfrm>
            <a:off x="9235440" y="5138928"/>
            <a:ext cx="2286000" cy="27432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9235440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</a:t>
            </a:r>
            <a:endParaRPr lang="en-US" sz="1050" dirty="0"/>
          </a:p>
        </p:txBody>
      </p:sp>
      <p:sp>
        <p:nvSpPr>
          <p:cNvPr id="175" name="Shape 173"/>
          <p:cNvSpPr/>
          <p:nvPr/>
        </p:nvSpPr>
        <p:spPr>
          <a:xfrm>
            <a:off x="9253728" y="5440680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9308592" y="544068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id_producto</a:t>
            </a:r>
            <a:endParaRPr lang="en-US" sz="850" dirty="0"/>
          </a:p>
        </p:txBody>
      </p:sp>
      <p:sp>
        <p:nvSpPr>
          <p:cNvPr id="177" name="Text 175"/>
          <p:cNvSpPr txBox="1"/>
          <p:nvPr/>
        </p:nvSpPr>
        <p:spPr>
          <a:xfrm>
            <a:off x="10195560" y="54406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178" name="Text 176"/>
          <p:cNvSpPr txBox="1"/>
          <p:nvPr/>
        </p:nvSpPr>
        <p:spPr>
          <a:xfrm>
            <a:off x="11064240" y="54406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9253728" y="5623560"/>
            <a:ext cx="2249424" cy="1828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9308592" y="562356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id_insumo</a:t>
            </a:r>
            <a:endParaRPr lang="en-US" sz="850" dirty="0"/>
          </a:p>
        </p:txBody>
      </p:sp>
      <p:sp>
        <p:nvSpPr>
          <p:cNvPr id="181" name="Text 179"/>
          <p:cNvSpPr txBox="1"/>
          <p:nvPr/>
        </p:nvSpPr>
        <p:spPr>
          <a:xfrm>
            <a:off x="10195560" y="5623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182" name="Text 180"/>
          <p:cNvSpPr txBox="1"/>
          <p:nvPr/>
        </p:nvSpPr>
        <p:spPr>
          <a:xfrm>
            <a:off x="11064240" y="562356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183" name="Text 181"/>
          <p:cNvSpPr txBox="1"/>
          <p:nvPr/>
        </p:nvSpPr>
        <p:spPr>
          <a:xfrm>
            <a:off x="9308592" y="580644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850" dirty="0"/>
          </a:p>
        </p:txBody>
      </p:sp>
      <p:sp>
        <p:nvSpPr>
          <p:cNvPr id="184" name="Text 182"/>
          <p:cNvSpPr txBox="1"/>
          <p:nvPr/>
        </p:nvSpPr>
        <p:spPr>
          <a:xfrm>
            <a:off x="10195560" y="58064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NUMERIC(8,2)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9555480" y="1371600"/>
            <a:ext cx="2176272" cy="1371600"/>
          </a:xfrm>
          <a:prstGeom prst="roundRect">
            <a:avLst>
              <a:gd name="adj" fmla="val 8000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86" name="Text 184"/>
          <p:cNvSpPr txBox="1"/>
          <p:nvPr/>
        </p:nvSpPr>
        <p:spPr>
          <a:xfrm>
            <a:off x="9720072" y="14630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950" dirty="0"/>
          </a:p>
        </p:txBody>
      </p:sp>
      <p:sp>
        <p:nvSpPr>
          <p:cNvPr id="187" name="Text 185"/>
          <p:cNvSpPr txBox="1"/>
          <p:nvPr/>
        </p:nvSpPr>
        <p:spPr>
          <a:xfrm>
            <a:off x="9720072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50" dirty="0"/>
          </a:p>
        </p:txBody>
      </p:sp>
      <p:sp>
        <p:nvSpPr>
          <p:cNvPr id="188" name="Text 186"/>
          <p:cNvSpPr txBox="1"/>
          <p:nvPr/>
        </p:nvSpPr>
        <p:spPr>
          <a:xfrm>
            <a:off x="10287000" y="171907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primaria</a:t>
            </a:r>
            <a:endParaRPr lang="en-US" sz="950" dirty="0"/>
          </a:p>
        </p:txBody>
      </p:sp>
      <p:sp>
        <p:nvSpPr>
          <p:cNvPr id="189" name="Text 187"/>
          <p:cNvSpPr txBox="1"/>
          <p:nvPr/>
        </p:nvSpPr>
        <p:spPr>
          <a:xfrm>
            <a:off x="9720072" y="1938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50" dirty="0"/>
          </a:p>
        </p:txBody>
      </p:sp>
      <p:sp>
        <p:nvSpPr>
          <p:cNvPr id="190" name="Text 188"/>
          <p:cNvSpPr txBox="1"/>
          <p:nvPr/>
        </p:nvSpPr>
        <p:spPr>
          <a:xfrm>
            <a:off x="10287000" y="1938528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foránea</a:t>
            </a:r>
            <a:endParaRPr lang="en-US" sz="950" dirty="0"/>
          </a:p>
        </p:txBody>
      </p:sp>
      <p:sp>
        <p:nvSpPr>
          <p:cNvPr id="191" name="Text 189"/>
          <p:cNvSpPr txBox="1"/>
          <p:nvPr/>
        </p:nvSpPr>
        <p:spPr>
          <a:xfrm>
            <a:off x="9720072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192" name="Text 190"/>
          <p:cNvSpPr txBox="1"/>
          <p:nvPr/>
        </p:nvSpPr>
        <p:spPr>
          <a:xfrm>
            <a:off x="10287000" y="2157984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a muchos</a:t>
            </a:r>
            <a:endParaRPr lang="en-US" sz="950" dirty="0"/>
          </a:p>
        </p:txBody>
      </p:sp>
      <p:sp>
        <p:nvSpPr>
          <p:cNvPr id="193" name="Text 191"/>
          <p:cNvSpPr txBox="1"/>
          <p:nvPr/>
        </p:nvSpPr>
        <p:spPr>
          <a:xfrm>
            <a:off x="9720072" y="2377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50" dirty="0"/>
          </a:p>
        </p:txBody>
      </p:sp>
      <p:sp>
        <p:nvSpPr>
          <p:cNvPr id="194" name="Text 192"/>
          <p:cNvSpPr txBox="1"/>
          <p:nvPr/>
        </p:nvSpPr>
        <p:spPr>
          <a:xfrm>
            <a:off x="10287000" y="237744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950" dirty="0"/>
          </a:p>
        </p:txBody>
      </p:sp>
      <p:sp>
        <p:nvSpPr>
          <p:cNvPr id="196" name="Shape 2">
            <a:extLst>
              <a:ext uri="{FF2B5EF4-FFF2-40B4-BE49-F238E27FC236}">
                <a16:creationId xmlns:a16="http://schemas.microsoft.com/office/drawing/2014/main" id="{DAAD17F8-58E7-4155-930E-3C90BE541AE3}"/>
              </a:ext>
            </a:extLst>
          </p:cNvPr>
          <p:cNvSpPr/>
          <p:nvPr/>
        </p:nvSpPr>
        <p:spPr>
          <a:xfrm>
            <a:off x="149471" y="1344380"/>
            <a:ext cx="11932461" cy="5383572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pic>
        <p:nvPicPr>
          <p:cNvPr id="195" name="Imagen 194">
            <a:extLst>
              <a:ext uri="{FF2B5EF4-FFF2-40B4-BE49-F238E27FC236}">
                <a16:creationId xmlns:a16="http://schemas.microsoft.com/office/drawing/2014/main" id="{C2CF6E3D-B60C-429B-A9F4-531D39BF063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06" y="1444751"/>
            <a:ext cx="11498411" cy="51931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clases UML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9509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del sistema con sus atributos, métodos y multiplicidades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3328416"/>
            <a:ext cx="64008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70632" y="3118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990088" y="33467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2779776"/>
            <a:ext cx="0" cy="41148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8184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758184" y="2990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2779776"/>
            <a:ext cx="0" cy="41148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990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3328416"/>
            <a:ext cx="64008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71032" y="3118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33467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63840" y="2779776"/>
            <a:ext cx="0" cy="41148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18704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918704" y="2990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4992624"/>
            <a:ext cx="0" cy="192024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4773168"/>
            <a:ext cx="164592" cy="219456"/>
          </a:xfrm>
          <a:prstGeom prst="diamond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91456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91456" y="4983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5321808"/>
            <a:ext cx="64008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71032" y="51114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90488" y="53400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78240" y="5321808"/>
            <a:ext cx="45720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05672" y="51114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842248" y="53400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645920" y="1371600"/>
            <a:ext cx="23774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45920" y="1371600"/>
            <a:ext cx="2377440" cy="274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4592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719072" y="1668780"/>
            <a:ext cx="2231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idEmpleado: int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719072" y="1842516"/>
            <a:ext cx="2231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nombre: String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719072" y="2016252"/>
            <a:ext cx="2231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rol: String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55064" y="2212848"/>
            <a:ext cx="2359152" cy="557784"/>
          </a:xfrm>
          <a:prstGeom prst="rect">
            <a:avLst/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0" y="2212848"/>
            <a:ext cx="2377440" cy="0"/>
          </a:xfrm>
          <a:prstGeom prst="line">
            <a:avLst/>
          </a:prstGeom>
          <a:noFill/>
          <a:ln w="12700">
            <a:solidFill>
              <a:srgbClr val="B9ADA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719072" y="2235708"/>
            <a:ext cx="2231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iniciarSesion(): boolean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719072" y="2409444"/>
            <a:ext cx="2231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registrarPedido(): Pedido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719072" y="2583180"/>
            <a:ext cx="2231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generarReporte(): void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34840" y="1371600"/>
            <a:ext cx="210312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34840" y="1371600"/>
            <a:ext cx="2103120" cy="274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348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07992" y="1668780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idPago: int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507992" y="1842516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metodo: String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507992" y="2016252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monto: double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507992" y="2189988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fecha: Date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43984" y="2386584"/>
            <a:ext cx="2084832" cy="384048"/>
          </a:xfrm>
          <a:prstGeom prst="rect">
            <a:avLst/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34840" y="2386584"/>
            <a:ext cx="2103120" cy="0"/>
          </a:xfrm>
          <a:prstGeom prst="line">
            <a:avLst/>
          </a:prstGeom>
          <a:noFill/>
          <a:ln w="12700">
            <a:solidFill>
              <a:srgbClr val="B9ADA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07992" y="2409444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procesarPago(): boolean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507992" y="2583180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emitirComprobante()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49440" y="1371600"/>
            <a:ext cx="22860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49440" y="1371600"/>
            <a:ext cx="2286000" cy="274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494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Repartidor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7022592" y="1668780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idRepartidor: int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7022592" y="1842516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nombre: String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7022592" y="2016252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telefono: String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7022592" y="2189988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disponible: boolean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58584" y="2386584"/>
            <a:ext cx="2267712" cy="384048"/>
          </a:xfrm>
          <a:prstGeom prst="rect">
            <a:avLst/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49440" y="2386584"/>
            <a:ext cx="2286000" cy="0"/>
          </a:xfrm>
          <a:prstGeom prst="line">
            <a:avLst/>
          </a:prstGeom>
          <a:noFill/>
          <a:ln w="12700">
            <a:solidFill>
              <a:srgbClr val="B9ADA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022592" y="2409444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aceptarEntrega(): void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7022592" y="2583180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actualizarEstado(): void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3191256"/>
            <a:ext cx="22860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57200" y="3191256"/>
            <a:ext cx="2286000" cy="274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57200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530352" y="3488436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idCliente: int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530352" y="3662172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nombre: String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530352" y="3835908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telefono: String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530352" y="4009644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direccion: String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6344" y="4206240"/>
            <a:ext cx="2267712" cy="384048"/>
          </a:xfrm>
          <a:prstGeom prst="rect">
            <a:avLst/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" y="4206240"/>
            <a:ext cx="2286000" cy="0"/>
          </a:xfrm>
          <a:prstGeom prst="line">
            <a:avLst/>
          </a:prstGeom>
          <a:noFill/>
          <a:ln w="12700">
            <a:solidFill>
              <a:srgbClr val="B9ADA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30352" y="4229100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realizarPedido(): Pedido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530352" y="4402836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consultarEstado(): String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383280" y="3191256"/>
            <a:ext cx="2560320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383280" y="3191256"/>
            <a:ext cx="2560320" cy="274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383280" y="3191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3456432" y="3488436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idPedido: int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3456432" y="3662172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fechaHora: Date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3456432" y="3835908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tipoEntrega: String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3456432" y="4009644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estado: String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3456432" y="4183380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total: double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392424" y="4379976"/>
            <a:ext cx="2542032" cy="384048"/>
          </a:xfrm>
          <a:prstGeom prst="rect">
            <a:avLst/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83280" y="4379976"/>
            <a:ext cx="2560320" cy="0"/>
          </a:xfrm>
          <a:prstGeom prst="line">
            <a:avLst/>
          </a:prstGeom>
          <a:noFill/>
          <a:ln w="12700">
            <a:solidFill>
              <a:srgbClr val="B9ADA5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456432" y="4402836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calcularTotal(): double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3456432" y="4576572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cambiarEstado(e: String)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583680" y="3191256"/>
            <a:ext cx="219456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583680" y="3191256"/>
            <a:ext cx="2194560" cy="274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583680" y="3191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050" dirty="0"/>
          </a:p>
        </p:txBody>
      </p:sp>
      <p:sp>
        <p:nvSpPr>
          <p:cNvPr id="89" name="Text 87"/>
          <p:cNvSpPr txBox="1"/>
          <p:nvPr/>
        </p:nvSpPr>
        <p:spPr>
          <a:xfrm>
            <a:off x="6656832" y="3488436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idEntrega: int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6656832" y="3662172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direccion: String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6656832" y="3835908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estado: String</a:t>
            </a:r>
            <a:endParaRPr lang="en-US" sz="900" dirty="0"/>
          </a:p>
        </p:txBody>
      </p:sp>
      <p:sp>
        <p:nvSpPr>
          <p:cNvPr id="92" name="Text 90"/>
          <p:cNvSpPr txBox="1"/>
          <p:nvPr/>
        </p:nvSpPr>
        <p:spPr>
          <a:xfrm>
            <a:off x="6656832" y="4009644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horaEntrega: Date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592824" y="4206240"/>
            <a:ext cx="2176272" cy="384048"/>
          </a:xfrm>
          <a:prstGeom prst="rect">
            <a:avLst/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83680" y="4206240"/>
            <a:ext cx="2194560" cy="0"/>
          </a:xfrm>
          <a:prstGeom prst="line">
            <a:avLst/>
          </a:prstGeom>
          <a:noFill/>
          <a:ln w="12700">
            <a:solidFill>
              <a:srgbClr val="B9ADA5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656832" y="4229100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asignarRepartidor(): void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6656832" y="4402836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confirmarEntrega(): void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383280" y="5184648"/>
            <a:ext cx="25603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3383280" y="5184648"/>
            <a:ext cx="2560320" cy="274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3383280" y="5184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DetallePedido</a:t>
            </a:r>
            <a:endParaRPr lang="en-US" sz="1050" dirty="0"/>
          </a:p>
        </p:txBody>
      </p:sp>
      <p:sp>
        <p:nvSpPr>
          <p:cNvPr id="100" name="Text 98"/>
          <p:cNvSpPr txBox="1"/>
          <p:nvPr/>
        </p:nvSpPr>
        <p:spPr>
          <a:xfrm>
            <a:off x="3456432" y="5481828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cantidad: int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3456432" y="5655564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precioUnit: double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3456432" y="5829300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subtotal: double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392424" y="6025896"/>
            <a:ext cx="2542032" cy="210312"/>
          </a:xfrm>
          <a:prstGeom prst="rect">
            <a:avLst/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383280" y="6025896"/>
            <a:ext cx="2560320" cy="0"/>
          </a:xfrm>
          <a:prstGeom prst="line">
            <a:avLst/>
          </a:prstGeom>
          <a:noFill/>
          <a:ln w="12700">
            <a:solidFill>
              <a:srgbClr val="B9ADA5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3456432" y="6048756"/>
            <a:ext cx="2414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calcularSubtotal(): double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583680" y="5184648"/>
            <a:ext cx="2194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6583680" y="5184648"/>
            <a:ext cx="2194560" cy="274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583680" y="5184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050" dirty="0"/>
          </a:p>
        </p:txBody>
      </p:sp>
      <p:sp>
        <p:nvSpPr>
          <p:cNvPr id="109" name="Text 107"/>
          <p:cNvSpPr txBox="1"/>
          <p:nvPr/>
        </p:nvSpPr>
        <p:spPr>
          <a:xfrm>
            <a:off x="6656832" y="5481828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idProducto: int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6656832" y="5655564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nombre: String</a:t>
            </a:r>
            <a:endParaRPr lang="en-US" sz="900" dirty="0"/>
          </a:p>
        </p:txBody>
      </p:sp>
      <p:sp>
        <p:nvSpPr>
          <p:cNvPr id="111" name="Text 109"/>
          <p:cNvSpPr txBox="1"/>
          <p:nvPr/>
        </p:nvSpPr>
        <p:spPr>
          <a:xfrm>
            <a:off x="6656832" y="5829300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precio: double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6592824" y="6025896"/>
            <a:ext cx="2176272" cy="384048"/>
          </a:xfrm>
          <a:prstGeom prst="rect">
            <a:avLst/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83680" y="6025896"/>
            <a:ext cx="2194560" cy="0"/>
          </a:xfrm>
          <a:prstGeom prst="line">
            <a:avLst/>
          </a:prstGeom>
          <a:noFill/>
          <a:ln w="12700">
            <a:solidFill>
              <a:srgbClr val="B9ADA5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6656832" y="6048756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actualizarPrecio(p: double)</a:t>
            </a:r>
            <a:endParaRPr lang="en-US" sz="900" dirty="0"/>
          </a:p>
        </p:txBody>
      </p:sp>
      <p:sp>
        <p:nvSpPr>
          <p:cNvPr id="115" name="Text 113"/>
          <p:cNvSpPr txBox="1"/>
          <p:nvPr/>
        </p:nvSpPr>
        <p:spPr>
          <a:xfrm>
            <a:off x="6656832" y="6222492"/>
            <a:ext cx="2048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verDisponibilidad(): boolean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9235440" y="5184648"/>
            <a:ext cx="2286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ADA5"/>
            </a:solidFill>
            <a:prstDash val="solid"/>
          </a:ln>
          <a:effectLst>
            <a:outerShdw blurRad="63500" dist="19050" dir="5400000" algn="bl" rotWithShape="0">
              <a:srgbClr val="8A7D75">
                <a:alpha val="2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9235440" y="5184648"/>
            <a:ext cx="2286000" cy="274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9235440" y="5184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</a:t>
            </a:r>
            <a:endParaRPr lang="en-US" sz="1050" dirty="0"/>
          </a:p>
        </p:txBody>
      </p:sp>
      <p:sp>
        <p:nvSpPr>
          <p:cNvPr id="119" name="Text 117"/>
          <p:cNvSpPr txBox="1"/>
          <p:nvPr/>
        </p:nvSpPr>
        <p:spPr>
          <a:xfrm>
            <a:off x="9308592" y="5481828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idInsumo: int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9308592" y="5655564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stockActual: double</a:t>
            </a:r>
            <a:endParaRPr lang="en-US" sz="900" dirty="0"/>
          </a:p>
        </p:txBody>
      </p:sp>
      <p:sp>
        <p:nvSpPr>
          <p:cNvPr id="121" name="Text 119"/>
          <p:cNvSpPr txBox="1"/>
          <p:nvPr/>
        </p:nvSpPr>
        <p:spPr>
          <a:xfrm>
            <a:off x="9308592" y="5829300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stockMinimo: double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9244584" y="6025896"/>
            <a:ext cx="2267712" cy="384048"/>
          </a:xfrm>
          <a:prstGeom prst="rect">
            <a:avLst/>
          </a:prstGeom>
          <a:solidFill>
            <a:srgbClr val="FBF8F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235440" y="6025896"/>
            <a:ext cx="2286000" cy="0"/>
          </a:xfrm>
          <a:prstGeom prst="line">
            <a:avLst/>
          </a:prstGeom>
          <a:noFill/>
          <a:ln w="12700">
            <a:solidFill>
              <a:srgbClr val="B9ADA5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9308592" y="6048756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descontarStock(c: double)</a:t>
            </a:r>
            <a:endParaRPr lang="en-US" sz="900" dirty="0"/>
          </a:p>
        </p:txBody>
      </p:sp>
      <p:sp>
        <p:nvSpPr>
          <p:cNvPr id="125" name="Text 123"/>
          <p:cNvSpPr txBox="1"/>
          <p:nvPr/>
        </p:nvSpPr>
        <p:spPr>
          <a:xfrm>
            <a:off x="9308592" y="6222492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verificarStockMinimo(): boolean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9235440" y="3191256"/>
            <a:ext cx="2496312" cy="1371600"/>
          </a:xfrm>
          <a:prstGeom prst="roundRect">
            <a:avLst>
              <a:gd name="adj" fmla="val 8000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27" name="Text 125"/>
          <p:cNvSpPr txBox="1"/>
          <p:nvPr/>
        </p:nvSpPr>
        <p:spPr>
          <a:xfrm>
            <a:off x="9400032" y="3282696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950" dirty="0"/>
          </a:p>
        </p:txBody>
      </p:sp>
      <p:sp>
        <p:nvSpPr>
          <p:cNvPr id="128" name="Text 126"/>
          <p:cNvSpPr txBox="1"/>
          <p:nvPr/>
        </p:nvSpPr>
        <p:spPr>
          <a:xfrm>
            <a:off x="9400032" y="3538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129" name="Text 127"/>
          <p:cNvSpPr txBox="1"/>
          <p:nvPr/>
        </p:nvSpPr>
        <p:spPr>
          <a:xfrm>
            <a:off x="9966960" y="35387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privado</a:t>
            </a:r>
            <a:endParaRPr lang="en-US" sz="950" dirty="0"/>
          </a:p>
        </p:txBody>
      </p:sp>
      <p:sp>
        <p:nvSpPr>
          <p:cNvPr id="130" name="Text 128"/>
          <p:cNvSpPr txBox="1"/>
          <p:nvPr/>
        </p:nvSpPr>
        <p:spPr>
          <a:xfrm>
            <a:off x="9400032" y="3758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0C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50" dirty="0"/>
          </a:p>
        </p:txBody>
      </p:sp>
      <p:sp>
        <p:nvSpPr>
          <p:cNvPr id="131" name="Text 129"/>
          <p:cNvSpPr txBox="1"/>
          <p:nvPr/>
        </p:nvSpPr>
        <p:spPr>
          <a:xfrm>
            <a:off x="9966960" y="375818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público</a:t>
            </a:r>
            <a:endParaRPr lang="en-US" sz="950" dirty="0"/>
          </a:p>
        </p:txBody>
      </p:sp>
      <p:sp>
        <p:nvSpPr>
          <p:cNvPr id="132" name="Text 130"/>
          <p:cNvSpPr txBox="1"/>
          <p:nvPr/>
        </p:nvSpPr>
        <p:spPr>
          <a:xfrm>
            <a:off x="9400032" y="39776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50" dirty="0"/>
          </a:p>
        </p:txBody>
      </p:sp>
      <p:sp>
        <p:nvSpPr>
          <p:cNvPr id="133" name="Text 131"/>
          <p:cNvSpPr txBox="1"/>
          <p:nvPr/>
        </p:nvSpPr>
        <p:spPr>
          <a:xfrm>
            <a:off x="9966960" y="397764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endParaRPr lang="en-US" sz="950" dirty="0"/>
          </a:p>
        </p:txBody>
      </p:sp>
      <p:sp>
        <p:nvSpPr>
          <p:cNvPr id="134" name="Text 132"/>
          <p:cNvSpPr txBox="1"/>
          <p:nvPr/>
        </p:nvSpPr>
        <p:spPr>
          <a:xfrm>
            <a:off x="9400032" y="4197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50" dirty="0"/>
          </a:p>
        </p:txBody>
      </p:sp>
      <p:sp>
        <p:nvSpPr>
          <p:cNvPr id="135" name="Text 133"/>
          <p:cNvSpPr txBox="1"/>
          <p:nvPr/>
        </p:nvSpPr>
        <p:spPr>
          <a:xfrm>
            <a:off x="9966960" y="419709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(0..n)</a:t>
            </a:r>
            <a:endParaRPr lang="en-US" sz="950" dirty="0"/>
          </a:p>
        </p:txBody>
      </p:sp>
      <p:sp>
        <p:nvSpPr>
          <p:cNvPr id="136" name="Shape 2">
            <a:extLst>
              <a:ext uri="{FF2B5EF4-FFF2-40B4-BE49-F238E27FC236}">
                <a16:creationId xmlns:a16="http://schemas.microsoft.com/office/drawing/2014/main" id="{2675288E-0F8F-439D-A25C-051DEEAEFD53}"/>
              </a:ext>
            </a:extLst>
          </p:cNvPr>
          <p:cNvSpPr/>
          <p:nvPr/>
        </p:nvSpPr>
        <p:spPr>
          <a:xfrm>
            <a:off x="385233" y="950976"/>
            <a:ext cx="11421533" cy="5779008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pic>
        <p:nvPicPr>
          <p:cNvPr id="137" name="Imagen 136">
            <a:extLst>
              <a:ext uri="{FF2B5EF4-FFF2-40B4-BE49-F238E27FC236}">
                <a16:creationId xmlns:a16="http://schemas.microsoft.com/office/drawing/2014/main" id="{09C7E340-7AB2-4BF4-B3C1-568F1467B47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492" y="1053761"/>
            <a:ext cx="5466734" cy="56168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actividades 1: Consultar Productos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2194560"/>
          </a:xfrm>
          <a:prstGeom prst="rect">
            <a:avLst/>
          </a:prstGeom>
          <a:solidFill>
            <a:srgbClr val="FBF8F5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1274552" cy="2560320"/>
          </a:xfrm>
          <a:prstGeom prst="rect">
            <a:avLst/>
          </a:prstGeom>
          <a:solidFill>
            <a:srgbClr val="F4EFEA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44752" y="2322576"/>
            <a:ext cx="292608" cy="29260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8024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</a:t>
            </a:r>
            <a:r>
              <a:rPr lang="en-US" sz="950" dirty="0" err="1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tipo de entrega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85616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31336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pedido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9896" y="397764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96076" y="416052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stock?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38928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84648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total y muestra resumen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método de pago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45552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91272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el pago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53144" y="397764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09324" y="416052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¿Pago aprobado?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52176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97896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pedido y lo envía a cocina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881360" y="22860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63656" y="236829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85616" y="5280660"/>
            <a:ext cx="1024128" cy="502920"/>
          </a:xfrm>
          <a:prstGeom prst="roundRect">
            <a:avLst>
              <a:gd name="adj" fmla="val 218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31336" y="52806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producto agotado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98864" y="5280660"/>
            <a:ext cx="1024128" cy="502920"/>
          </a:xfrm>
          <a:prstGeom prst="roundRect">
            <a:avLst>
              <a:gd name="adj" fmla="val 218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44584" y="52806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error de pago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737360" y="2468880"/>
            <a:ext cx="69494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456432" y="2468880"/>
            <a:ext cx="32918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297680" y="2857500"/>
            <a:ext cx="0" cy="11201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855464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873752" y="4197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63056" y="443484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004304" y="2857500"/>
            <a:ext cx="0" cy="15773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516368" y="246888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57616" y="2468880"/>
            <a:ext cx="0" cy="15773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869680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268712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10287000" y="4197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 flipV="1">
            <a:off x="11064240" y="2651760"/>
            <a:ext cx="0" cy="13944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297680" y="4892040"/>
            <a:ext cx="0" cy="3886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370832" y="49103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 flipH="1">
            <a:off x="2944368" y="553212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2944368" y="2857500"/>
            <a:ext cx="0" cy="26746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710928" y="4892040"/>
            <a:ext cx="0" cy="3886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9784080" y="49103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 flipH="1">
            <a:off x="7004304" y="5532120"/>
            <a:ext cx="2194560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7004304" y="2857500"/>
            <a:ext cx="0" cy="26746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96696" y="630021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261872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029968" y="62819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83460" y="6335420"/>
            <a:ext cx="130759" cy="130759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331720" y="6300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926080" y="6309360"/>
            <a:ext cx="384048" cy="182880"/>
          </a:xfrm>
          <a:prstGeom prst="roundRect">
            <a:avLst>
              <a:gd name="adj" fmla="val 30000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401568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343400" y="6281928"/>
            <a:ext cx="310896" cy="23774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B5121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736592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950" dirty="0"/>
          </a:p>
        </p:txBody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9A156FE9-639C-4281-8166-2A658B053FCC}"/>
              </a:ext>
            </a:extLst>
          </p:cNvPr>
          <p:cNvSpPr/>
          <p:nvPr/>
        </p:nvSpPr>
        <p:spPr>
          <a:xfrm>
            <a:off x="383709" y="1074420"/>
            <a:ext cx="11421533" cy="5546513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pic>
        <p:nvPicPr>
          <p:cNvPr id="69" name="Imagen 68">
            <a:extLst>
              <a:ext uri="{FF2B5EF4-FFF2-40B4-BE49-F238E27FC236}">
                <a16:creationId xmlns:a16="http://schemas.microsoft.com/office/drawing/2014/main" id="{5B815FE8-16C6-4E7D-BD63-8A4DC26CA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759737"/>
            <a:ext cx="7031736" cy="3786583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D24C113C-25BA-4F79-8DEF-ADEAAA4FE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688" y="1140231"/>
            <a:ext cx="2416705" cy="5457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actividades 2: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pedido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9509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de la cocina y actualización del inventario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2194560"/>
          </a:xfrm>
          <a:prstGeom prst="rect">
            <a:avLst/>
          </a:prstGeom>
          <a:solidFill>
            <a:srgbClr val="FBF8F5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1274552" cy="2560320"/>
          </a:xfrm>
          <a:prstGeom prst="rect">
            <a:avLst/>
          </a:prstGeom>
          <a:solidFill>
            <a:srgbClr val="F4EFEA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Cocina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44752" y="2322576"/>
            <a:ext cx="292608" cy="29260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8024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el pedido y lo muestra en cocina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85616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31336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pedido En preparación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38928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84648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los </a:t>
            </a:r>
            <a:r>
              <a:rPr lang="en-US" sz="950" dirty="0" err="1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397764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02700" y="416052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¿Pedido completo?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45552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pedido como Listo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98864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4584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Descuenta insumos y notifica pedido listo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881360" y="22860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63656" y="236829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7360" y="2468880"/>
            <a:ext cx="69494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56432" y="246888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2468880"/>
            <a:ext cx="0" cy="15773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09744" y="4434840"/>
            <a:ext cx="32918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63056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62088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7580376" y="4197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04304" y="4892040"/>
            <a:ext cx="0" cy="8229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5650992" y="5715000"/>
            <a:ext cx="1353312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650992" y="4823460"/>
            <a:ext cx="0" cy="8915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7077456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rehacer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869680" y="443484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9710928" y="2857500"/>
            <a:ext cx="0" cy="15773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222992" y="2468880"/>
            <a:ext cx="65836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6696" y="630021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261872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029968" y="62819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83460" y="6335420"/>
            <a:ext cx="130759" cy="130759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331720" y="6300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926080" y="6309360"/>
            <a:ext cx="384048" cy="182880"/>
          </a:xfrm>
          <a:prstGeom prst="roundRect">
            <a:avLst>
              <a:gd name="adj" fmla="val 30000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01568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343400" y="6281928"/>
            <a:ext cx="310896" cy="23774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B5121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36592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950" dirty="0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9103F89C-93AC-403D-808D-4DDF49FEEA65}"/>
              </a:ext>
            </a:extLst>
          </p:cNvPr>
          <p:cNvSpPr/>
          <p:nvPr/>
        </p:nvSpPr>
        <p:spPr>
          <a:xfrm>
            <a:off x="338667" y="973159"/>
            <a:ext cx="11535155" cy="5630841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089E6D94-422F-440E-82E0-43CCB69BE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066" y="1344555"/>
            <a:ext cx="7423740" cy="4944569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A8B4EAC3-7935-40DA-BA28-AD3449880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843" y="983323"/>
            <a:ext cx="2517097" cy="56494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actividades 3: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Estado de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2194560"/>
          </a:xfrm>
          <a:prstGeom prst="rect">
            <a:avLst/>
          </a:prstGeom>
          <a:solidFill>
            <a:srgbClr val="FBF8F5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1274552" cy="2560320"/>
          </a:xfrm>
          <a:prstGeom prst="rect">
            <a:avLst/>
          </a:prstGeom>
          <a:solidFill>
            <a:srgbClr val="F4EFEA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44752" y="2322576"/>
            <a:ext cx="292608" cy="29260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8024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pedido delivery listo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9896" y="201168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96076" y="219456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¿Repartidor disponible?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38928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84648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repartidor y le notifica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92240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y recoge el pedido en local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45552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 el pedido al cliente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53144" y="397764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09324" y="416052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¿Entrega exitosa?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52176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97896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entrega; sistema marca Entregado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881360" y="22860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63656" y="236829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8864" y="5280660"/>
            <a:ext cx="1024128" cy="502920"/>
          </a:xfrm>
          <a:prstGeom prst="roundRect">
            <a:avLst>
              <a:gd name="adj" fmla="val 218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4584" y="52806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incidencia y reintenta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37360" y="2468880"/>
            <a:ext cx="69494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56432" y="246888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55464" y="246888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873752" y="22311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V="1">
            <a:off x="4297680" y="1591056"/>
            <a:ext cx="0" cy="420624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2944368" y="1591056"/>
            <a:ext cx="1353312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44368" y="1591056"/>
            <a:ext cx="0" cy="489204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3054096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reintentar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63056" y="246888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4304" y="2468880"/>
            <a:ext cx="0" cy="15773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516368" y="4434840"/>
            <a:ext cx="32918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869680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268712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10287000" y="4197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V="1">
            <a:off x="11064240" y="2651760"/>
            <a:ext cx="0" cy="13944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710928" y="4892040"/>
            <a:ext cx="0" cy="3886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9784080" y="49103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 flipH="1">
            <a:off x="8357616" y="553212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8357616" y="4823460"/>
            <a:ext cx="0" cy="7086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6696" y="630021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261872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029968" y="62819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83460" y="6335420"/>
            <a:ext cx="130759" cy="130759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331720" y="6300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26080" y="6309360"/>
            <a:ext cx="384048" cy="182880"/>
          </a:xfrm>
          <a:prstGeom prst="roundRect">
            <a:avLst>
              <a:gd name="adj" fmla="val 30000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401568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43400" y="6281928"/>
            <a:ext cx="310896" cy="23774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B5121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736592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950" dirty="0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AFC63DB0-1BBB-499B-868D-908303ABB083}"/>
              </a:ext>
            </a:extLst>
          </p:cNvPr>
          <p:cNvSpPr/>
          <p:nvPr/>
        </p:nvSpPr>
        <p:spPr>
          <a:xfrm>
            <a:off x="310219" y="973159"/>
            <a:ext cx="11535155" cy="5630841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F8BCBD9-7F3E-4446-8D55-2D952DFA4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69" y="1101403"/>
            <a:ext cx="2938039" cy="5407511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E1A98A3A-7501-443D-A071-8DE91D11B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184" y="2022710"/>
            <a:ext cx="7273568" cy="312697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4: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2194560"/>
          </a:xfrm>
          <a:prstGeom prst="rect">
            <a:avLst/>
          </a:prstGeom>
          <a:solidFill>
            <a:srgbClr val="FBF8F5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1274552" cy="2560320"/>
          </a:xfrm>
          <a:prstGeom prst="rect">
            <a:avLst/>
          </a:prstGeom>
          <a:solidFill>
            <a:srgbClr val="F4EFEA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44752" y="2322576"/>
            <a:ext cx="292608" cy="29260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8024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pedido delivery listo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9896" y="201168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96076" y="219456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¿Repartidor disponible?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38928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84648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repartidor y le notifica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92240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y recoge el pedido en local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45552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 el pedido al cliente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53144" y="397764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09324" y="416052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¿Entrega exitosa?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52176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97896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entrega; sistema marca Entregado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881360" y="22860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63656" y="236829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8864" y="5280660"/>
            <a:ext cx="1024128" cy="502920"/>
          </a:xfrm>
          <a:prstGeom prst="roundRect">
            <a:avLst>
              <a:gd name="adj" fmla="val 218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4584" y="52806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incidencia y reintenta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37360" y="2468880"/>
            <a:ext cx="69494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56432" y="246888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55464" y="246888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873752" y="22311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V="1">
            <a:off x="4297680" y="1591056"/>
            <a:ext cx="0" cy="420624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2944368" y="1591056"/>
            <a:ext cx="1353312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44368" y="1591056"/>
            <a:ext cx="0" cy="489204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3054096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reintentar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63056" y="246888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4304" y="2468880"/>
            <a:ext cx="0" cy="15773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516368" y="4434840"/>
            <a:ext cx="32918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869680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268712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10287000" y="4197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V="1">
            <a:off x="11064240" y="2651760"/>
            <a:ext cx="0" cy="13944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710928" y="4892040"/>
            <a:ext cx="0" cy="3886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9784080" y="49103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 flipH="1">
            <a:off x="8357616" y="553212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8357616" y="4823460"/>
            <a:ext cx="0" cy="7086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6696" y="630021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261872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029968" y="62819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83460" y="6335420"/>
            <a:ext cx="130759" cy="130759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331720" y="6300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26080" y="6309360"/>
            <a:ext cx="384048" cy="182880"/>
          </a:xfrm>
          <a:prstGeom prst="roundRect">
            <a:avLst>
              <a:gd name="adj" fmla="val 30000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401568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43400" y="6281928"/>
            <a:ext cx="310896" cy="23774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B5121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736592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950" dirty="0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AFC63DB0-1BBB-499B-868D-908303ABB083}"/>
              </a:ext>
            </a:extLst>
          </p:cNvPr>
          <p:cNvSpPr/>
          <p:nvPr/>
        </p:nvSpPr>
        <p:spPr>
          <a:xfrm>
            <a:off x="310219" y="973159"/>
            <a:ext cx="11535155" cy="5630841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75107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5: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2194560"/>
          </a:xfrm>
          <a:prstGeom prst="rect">
            <a:avLst/>
          </a:prstGeom>
          <a:solidFill>
            <a:srgbClr val="FBF8F5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1274552" cy="2560320"/>
          </a:xfrm>
          <a:prstGeom prst="rect">
            <a:avLst/>
          </a:prstGeom>
          <a:solidFill>
            <a:srgbClr val="F4EFEA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44752" y="2322576"/>
            <a:ext cx="292608" cy="29260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8024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pedido delivery listo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9896" y="201168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96076" y="219456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¿Repartidor disponible?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38928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84648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repartidor y le notifica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92240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y recoge el pedido en local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45552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 el pedido al cliente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53144" y="397764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09324" y="416052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¿Entrega exitosa?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52176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97896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entrega; sistema marca Entregado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881360" y="22860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63656" y="236829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8864" y="5280660"/>
            <a:ext cx="1024128" cy="502920"/>
          </a:xfrm>
          <a:prstGeom prst="roundRect">
            <a:avLst>
              <a:gd name="adj" fmla="val 218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4584" y="52806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incidencia y reintenta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37360" y="2468880"/>
            <a:ext cx="69494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56432" y="246888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55464" y="246888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873752" y="22311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V="1">
            <a:off x="4297680" y="1591056"/>
            <a:ext cx="0" cy="420624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2944368" y="1591056"/>
            <a:ext cx="1353312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44368" y="1591056"/>
            <a:ext cx="0" cy="489204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3054096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reintentar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63056" y="246888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4304" y="2468880"/>
            <a:ext cx="0" cy="15773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516368" y="4434840"/>
            <a:ext cx="32918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869680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268712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10287000" y="4197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V="1">
            <a:off x="11064240" y="2651760"/>
            <a:ext cx="0" cy="13944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710928" y="4892040"/>
            <a:ext cx="0" cy="3886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9784080" y="49103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 flipH="1">
            <a:off x="8357616" y="553212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8357616" y="4823460"/>
            <a:ext cx="0" cy="7086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6696" y="630021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261872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029968" y="62819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83460" y="6335420"/>
            <a:ext cx="130759" cy="130759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331720" y="6300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26080" y="6309360"/>
            <a:ext cx="384048" cy="182880"/>
          </a:xfrm>
          <a:prstGeom prst="roundRect">
            <a:avLst>
              <a:gd name="adj" fmla="val 30000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401568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43400" y="6281928"/>
            <a:ext cx="310896" cy="23774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B5121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736592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950" dirty="0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AFC63DB0-1BBB-499B-868D-908303ABB083}"/>
              </a:ext>
            </a:extLst>
          </p:cNvPr>
          <p:cNvSpPr/>
          <p:nvPr/>
        </p:nvSpPr>
        <p:spPr>
          <a:xfrm>
            <a:off x="310219" y="973159"/>
            <a:ext cx="11535155" cy="5630841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pic>
        <p:nvPicPr>
          <p:cNvPr id="59" name="Imagen 58">
            <a:extLst>
              <a:ext uri="{FF2B5EF4-FFF2-40B4-BE49-F238E27FC236}">
                <a16:creationId xmlns:a16="http://schemas.microsoft.com/office/drawing/2014/main" id="{8A7FFB1D-534E-4BFD-8251-D2A60A45E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108" y="2068721"/>
            <a:ext cx="7661430" cy="27896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73126ADC-B157-47E2-824F-727F5F4A1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139" y="1309834"/>
            <a:ext cx="2416159" cy="488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33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6: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3000" b="1" dirty="0" err="1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2194560"/>
          </a:xfrm>
          <a:prstGeom prst="rect">
            <a:avLst/>
          </a:prstGeom>
          <a:solidFill>
            <a:srgbClr val="FBF8F5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411480" cy="219456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1274552" cy="2560320"/>
          </a:xfrm>
          <a:prstGeom prst="rect">
            <a:avLst/>
          </a:prstGeom>
          <a:solidFill>
            <a:srgbClr val="F4EFEA"/>
          </a:solidFill>
          <a:ln w="12700">
            <a:solidFill>
              <a:srgbClr val="D8CE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411480" cy="25603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44752" y="2322576"/>
            <a:ext cx="292608" cy="29260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8024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pedido delivery listo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9896" y="201168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96076" y="219456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¿Repartidor disponible?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38928" y="208026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84648" y="208026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repartidor y le notifica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92240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y recoge el pedido en local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45552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 el pedido al cliente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53144" y="3977640"/>
            <a:ext cx="1115568" cy="9144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512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09324" y="4160520"/>
            <a:ext cx="8032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¿Entrega exitosa?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52176" y="4046220"/>
            <a:ext cx="1024128" cy="777240"/>
          </a:xfrm>
          <a:prstGeom prst="roundRect">
            <a:avLst>
              <a:gd name="adj" fmla="val 141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97896" y="4046220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entrega; sistema marca Entregado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881360" y="22860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63656" y="236829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8864" y="5280660"/>
            <a:ext cx="1024128" cy="502920"/>
          </a:xfrm>
          <a:prstGeom prst="roundRect">
            <a:avLst>
              <a:gd name="adj" fmla="val 21818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4584" y="52806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4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incidencia y reintenta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37360" y="2468880"/>
            <a:ext cx="69494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56432" y="246888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55464" y="246888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873752" y="22311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V="1">
            <a:off x="4297680" y="1591056"/>
            <a:ext cx="0" cy="420624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2944368" y="1591056"/>
            <a:ext cx="1353312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44368" y="1591056"/>
            <a:ext cx="0" cy="489204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3054096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reintentar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63056" y="246888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4304" y="2468880"/>
            <a:ext cx="0" cy="157734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516368" y="4434840"/>
            <a:ext cx="32918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869680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268712" y="4434840"/>
            <a:ext cx="283464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10287000" y="4197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V="1">
            <a:off x="11064240" y="2651760"/>
            <a:ext cx="0" cy="13944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710928" y="4892040"/>
            <a:ext cx="0" cy="38862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9784080" y="49103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 flipH="1">
            <a:off x="8357616" y="5532120"/>
            <a:ext cx="841248" cy="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8357616" y="4823460"/>
            <a:ext cx="0" cy="708660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6696" y="6300216"/>
            <a:ext cx="201168" cy="201168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261872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029968" y="62819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1A1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83460" y="6335420"/>
            <a:ext cx="130759" cy="130759"/>
          </a:xfrm>
          <a:prstGeom prst="ellipse">
            <a:avLst/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331720" y="6300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26080" y="6309360"/>
            <a:ext cx="384048" cy="182880"/>
          </a:xfrm>
          <a:prstGeom prst="roundRect">
            <a:avLst>
              <a:gd name="adj" fmla="val 30000"/>
            </a:avLst>
          </a:prstGeom>
          <a:solidFill>
            <a:srgbClr val="FFF1C2"/>
          </a:solidFill>
          <a:ln w="12700">
            <a:solidFill>
              <a:srgbClr val="D89B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401568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43400" y="6281928"/>
            <a:ext cx="310896" cy="23774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B5121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736592" y="6300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950" dirty="0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AFC63DB0-1BBB-499B-868D-908303ABB083}"/>
              </a:ext>
            </a:extLst>
          </p:cNvPr>
          <p:cNvSpPr/>
          <p:nvPr/>
        </p:nvSpPr>
        <p:spPr>
          <a:xfrm>
            <a:off x="310219" y="973159"/>
            <a:ext cx="11535155" cy="5630841"/>
          </a:xfrm>
          <a:prstGeom prst="roundRect">
            <a:avLst>
              <a:gd name="adj" fmla="val 244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pic>
        <p:nvPicPr>
          <p:cNvPr id="59" name="Imagen 58">
            <a:extLst>
              <a:ext uri="{FF2B5EF4-FFF2-40B4-BE49-F238E27FC236}">
                <a16:creationId xmlns:a16="http://schemas.microsoft.com/office/drawing/2014/main" id="{9D28479D-CEFB-4E86-9E5B-713F45A77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154" y="2212848"/>
            <a:ext cx="7918704" cy="27896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0D89ADDA-4C08-4A31-A11A-8621DF2BE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464" y="1170701"/>
            <a:ext cx="2431350" cy="534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66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y tecnologías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95097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seleccionadas para construir el sistema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286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035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4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negocio, interfaces de usuario y reportes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5166360" cy="21945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4498848"/>
            <a:ext cx="137160" cy="13716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431596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robusto y multiplataforma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51560" y="5065776"/>
            <a:ext cx="137160" cy="13716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5880" y="48828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objetos: ideal para el modelado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51560" y="5632704"/>
            <a:ext cx="137160" cy="13716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544982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soporte para interfaces y reportes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16916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6656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286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035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4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clientes, inventario y ventas del restaurante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977640"/>
            <a:ext cx="5166360" cy="21945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4498848"/>
            <a:ext cx="137160" cy="13716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0" y="431596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relacional libre y estable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66560" y="5065776"/>
            <a:ext cx="137160" cy="13716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40880" y="48828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seguras para pagos y stock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766560" y="5632704"/>
            <a:ext cx="137160" cy="13716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40880" y="544982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rendimiento con datos en tiempo real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19456" cy="219456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7552" y="3840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91640"/>
            <a:ext cx="640080" cy="64008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claros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3017520"/>
            <a:ext cx="548640" cy="54864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de </a:t>
            </a:r>
            <a:r>
              <a:rPr lang="en-US" sz="1400" dirty="0" err="1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los tres diagramas de actividades definen quién hace qué en el flujo completo del negocio: desde que el cliente pide hasta que el pedido se entrega.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91640"/>
            <a:ext cx="640080" cy="640080"/>
          </a:xfrm>
          <a:prstGeom prst="ellipse">
            <a:avLst/>
          </a:prstGeom>
          <a:solidFill>
            <a:srgbClr val="241A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consistentes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09160" y="3017520"/>
            <a:ext cx="548640" cy="54864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entidad–relación y el diagrama de clases integran pedidos, pagos, inventario y entregas en una estructura coherente, lista para implementarse en PostgreSQL y Java.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  <a:effectLst>
            <a:outerShdw blurRad="101600" dist="25400" dir="5400000" algn="bl" rotWithShape="0">
              <a:srgbClr val="8A7D7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691640"/>
            <a:ext cx="640080" cy="640080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alcanzables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58200" y="3017520"/>
            <a:ext cx="548640" cy="54864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responde a los objetivos del proyecto: reducir 40% el tiempo de toma de pedido, controlar el inventario en tiempo real y automatizar el reparto del delivery.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577840"/>
            <a:ext cx="10927080" cy="822960"/>
          </a:xfrm>
          <a:prstGeom prst="roundRect">
            <a:avLst>
              <a:gd name="adj" fmla="val 13333"/>
            </a:avLst>
          </a:prstGeom>
          <a:solidFill>
            <a:srgbClr val="241A15"/>
          </a:solidFill>
          <a:ln w="12700">
            <a:solidFill>
              <a:srgbClr val="241A1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11680" y="5577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 por su atención!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5577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</a:t>
            </a:r>
            <a:r>
              <a:rPr lang="en-US" sz="1400" i="1" dirty="0" err="1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BurgerGo</a:t>
            </a:r>
            <a:endParaRPr lang="en-US" sz="14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1D70B1EA-7134-4171-96FD-DAD3DEF60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98" y="5623560"/>
            <a:ext cx="639742" cy="6397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2911</Words>
  <Application>Microsoft Office PowerPoint</Application>
  <PresentationFormat>Panorámica</PresentationFormat>
  <Paragraphs>657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BurgerGo - Modelado del sistema</dc:title>
  <dc:subject>PptxGenJS Presentation</dc:subject>
  <dc:creator>Equipo BurgerGo</dc:creator>
  <cp:lastModifiedBy>ACER</cp:lastModifiedBy>
  <cp:revision>27</cp:revision>
  <dcterms:created xsi:type="dcterms:W3CDTF">2026-10-19T00:41:24Z</dcterms:created>
  <dcterms:modified xsi:type="dcterms:W3CDTF">2026-10-29T19:14:53Z</dcterms:modified>
</cp:coreProperties>
</file>